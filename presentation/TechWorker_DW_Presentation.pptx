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8" d="100"/>
          <a:sy n="118" d="100"/>
        </p:scale>
        <p:origin x="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18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One sentence: we built a data warehouse that answers where a tech salary actually buys the most, integrating survey, geographic and cost-of-living data. Agenda implicit: sources, design, ETL, results,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comparing tech salaries across countries is meaningless in nominal terms. Our DW adjusts by cost of living. The three numbers: raw volume, sources, final analyzable coverage.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source. Stress the ROLES: facts / canonical geographic master / context. The master exists because country names are fragile join keys — next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found: implausible self-reported salaries (trim), a heavy-null dimension (Unknown member), and an error inside the geographic master itself (Korea). R4 is a principle: the warehouse never loses information; analytical thresholds live in queries. Median 65k vs mean 86k also motivated median aggregation.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are the only shared attribute across the three sources — but they are fragile keys. Strategy: converge both sources onto the ISO master once, then join on alpha-3. Tell the Korea story: it proves even the master must be validated. False negatives (Viet Nam vs Vietnam) AND false positives (South Korea/PRK).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in official Golfarelli-Rizzi notation: circles = dimensional attributes, underlined = descriptive attributes (ISO code and Numbeo indices on country), (MEDIAN) = aggregation operator declaring non-additivity, double line = multiple arc. Decision D1: indices at country grain live as descriptive attributes; the adjusted measure is pre-computed in ETL.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table ~23k rows with FKs to 10 dimensions + two measures; 12 tables total. Why star: normalization protects against update anomalies, which cannot occur in a warehouse written only by controlled ETL — so we trade harmless redundancy for simpler, faster queries.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stages. Idempotence: rule of reproducibility. Load order: FK integrity. If asked what breaks loading facts first: FK violations — the DDL makes wrong ETL impossible. QC prints expected counts and a smoke-test ranking straight after load.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percentile_cont with HAVING n&gt;=30. The US stays first, but everything below changes vs the nominal ranking. Georgia n=46: above threshold yet flagged — honesty scores points.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RANK() OVER on nominal vs adjusted medians. This is 'the phenomenon not explicitly evident from the data' the project brief asks for. Ukraine's n makes it statistically strong.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critical-thinking moment, not just a SQL trick: we drafted a claim from Q3/ROLLUP, then designed Q9 specifically to stress-test it — and it failed. Western Europe's scarto ~ 0 is the control case: it proves the effect is a real sampling artifact, not a query bug, since a sub-region with balanced country samples is untouched. If asked why not just switch to equal-weighting everywhere: the two methods answer different questions — 'what does the typical respondent see' (pooled) vs 'what does the typical country look like' (equal-weighted) — and we kept both, documented, rather than picking the one that made the better headline.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The banding (Junior/Mid/Senior/Expert) is a designed hierarchy over YearsCodePro — thresholds documented, changeable without touching facts. Steepest slopes in emerging markets.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FILTER conditional medians. This is the mechanism behind the hidden winners: remote pay + low local costs. Tie back to slide 10.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Declare the double-counting rule before anyone asks. And say 'correlation, not causation' about Erlang — it defuses the obvious objection.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being asked — it demonstrates critical awareness. Each one has a mitigation: trimming, thresholds + large-sample confirmation, explicit caveat, deliberate design choice.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under 30 seconds and hand over to the demo: 'let us show you the warehouse answering live'. The demo script takes over from here (D1→D5).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119"/>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2011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The Purchasing Power</a:t>
            </a:r>
            <a:endParaRPr lang="en-US" sz="5200" dirty="0"/>
          </a:p>
          <a:p>
            <a:pPr marL="0" indent="0">
              <a:buNone/>
            </a:pPr>
            <a:r>
              <a:rPr lang="en-US" sz="5200" b="1" dirty="0">
                <a:solidFill>
                  <a:srgbClr val="FFFFFF"/>
                </a:solidFill>
                <a:latin typeface="Cambria" pitchFamily="34" charset="0"/>
                <a:ea typeface="Cambria" pitchFamily="34" charset="-122"/>
                <a:cs typeface="Cambria" pitchFamily="34" charset="-120"/>
              </a:rPr>
              <a:t>of the Tech Worker</a:t>
            </a:r>
            <a:endParaRPr lang="en-US" sz="5200" dirty="0"/>
          </a:p>
        </p:txBody>
      </p:sp>
      <p:sp>
        <p:nvSpPr>
          <p:cNvPr id="3" name="Text 1"/>
          <p:cNvSpPr/>
          <p:nvPr/>
        </p:nvSpPr>
        <p:spPr>
          <a:xfrm>
            <a:off x="822960" y="3611880"/>
            <a:ext cx="10058400" cy="457200"/>
          </a:xfrm>
          <a:prstGeom prst="rect">
            <a:avLst/>
          </a:prstGeom>
          <a:noFill/>
          <a:ln/>
        </p:spPr>
        <p:txBody>
          <a:bodyPr wrap="square" lIns="0" tIns="0" rIns="0" bIns="0" rtlCol="0" anchor="ctr"/>
          <a:lstStyle/>
          <a:p>
            <a:pPr marL="0" indent="0">
              <a:buNone/>
            </a:pPr>
            <a:r>
              <a:rPr lang="en-US" sz="1900" i="1" dirty="0">
                <a:solidFill>
                  <a:srgbClr val="E8C9CE"/>
                </a:solidFill>
                <a:latin typeface="Calibri" pitchFamily="34" charset="0"/>
                <a:ea typeface="Calibri" pitchFamily="34" charset="-122"/>
                <a:cs typeface="Calibri" pitchFamily="34" charset="-120"/>
              </a:rPr>
              <a:t>A Data Warehousing project: from three heterogeneous sources to OLAP answers</a:t>
            </a:r>
            <a:endParaRPr lang="en-US" sz="1900" dirty="0"/>
          </a:p>
        </p:txBody>
      </p:sp>
      <p:sp>
        <p:nvSpPr>
          <p:cNvPr id="4" name="Text 2"/>
          <p:cNvSpPr/>
          <p:nvPr/>
        </p:nvSpPr>
        <p:spPr>
          <a:xfrm>
            <a:off x="822960" y="5120640"/>
            <a:ext cx="9144000" cy="8229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Emanuele Smisi  ·  Fabrizio Pietrobono</a:t>
            </a:r>
            <a:endParaRPr lang="en-US" sz="1700" dirty="0"/>
          </a:p>
          <a:p>
            <a:pPr marL="0" indent="0">
              <a:buNone/>
            </a:pPr>
            <a:r>
              <a:rPr lang="en-US" sz="1300" dirty="0">
                <a:solidFill>
                  <a:srgbClr val="E8C9CE"/>
                </a:solidFill>
                <a:latin typeface="Calibri" pitchFamily="34" charset="0"/>
                <a:ea typeface="Calibri" pitchFamily="34" charset="-122"/>
                <a:cs typeface="Calibri" pitchFamily="34" charset="-120"/>
              </a:rPr>
              <a:t>Data Management A.Y. 2025/26 — Sapienza University of Rome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business question</a:t>
            </a:r>
            <a:endParaRPr lang="en-US" sz="3000" dirty="0"/>
          </a:p>
        </p:txBody>
      </p:sp>
      <p:sp>
        <p:nvSpPr>
          <p:cNvPr id="3" name="Text 1"/>
          <p:cNvSpPr/>
          <p:nvPr/>
        </p:nvSpPr>
        <p:spPr>
          <a:xfrm>
            <a:off x="548640" y="1143000"/>
            <a:ext cx="11064240" cy="731520"/>
          </a:xfrm>
          <a:prstGeom prst="rect">
            <a:avLst/>
          </a:prstGeom>
          <a:noFill/>
          <a:ln/>
        </p:spPr>
        <p:txBody>
          <a:bodyPr wrap="square" lIns="0" tIns="0" rIns="0" bIns="0" rtlCol="0" anchor="ctr"/>
          <a:lstStyle/>
          <a:p>
            <a:pPr marL="0" indent="0">
              <a:buNone/>
            </a:pPr>
            <a:r>
              <a:rPr lang="en-US" sz="3200" b="1" i="1" dirty="0">
                <a:solidFill>
                  <a:srgbClr val="8C1D2F"/>
                </a:solidFill>
                <a:latin typeface="Cambria" pitchFamily="34" charset="0"/>
                <a:ea typeface="Cambria" pitchFamily="34" charset="-122"/>
                <a:cs typeface="Cambria" pitchFamily="34" charset="-120"/>
              </a:rPr>
              <a:t>Where does a tech salary buy the most?</a:t>
            </a:r>
            <a:endParaRPr lang="en-US" sz="3200" dirty="0"/>
          </a:p>
        </p:txBody>
      </p:sp>
      <p:sp>
        <p:nvSpPr>
          <p:cNvPr id="4" name="Text 2"/>
          <p:cNvSpPr/>
          <p:nvPr/>
        </p:nvSpPr>
        <p:spPr>
          <a:xfrm>
            <a:off x="548640" y="2011680"/>
            <a:ext cx="10881360" cy="91440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 nominal salary is a misleading signal: 60,000 $ in Zurich and in Buenos Aires are two different lives. To compare countries fairly, salaries must be adjusted for the local cost of living, and that requires integrating data nobody publishes together.</a:t>
            </a:r>
            <a:endParaRPr lang="en-US" sz="1600" dirty="0"/>
          </a:p>
        </p:txBody>
      </p:sp>
      <p:sp>
        <p:nvSpPr>
          <p:cNvPr id="5" name="Shape 3"/>
          <p:cNvSpPr/>
          <p:nvPr/>
        </p:nvSpPr>
        <p:spPr>
          <a:xfrm>
            <a:off x="822960" y="3383280"/>
            <a:ext cx="3291840" cy="2377440"/>
          </a:xfrm>
          <a:prstGeom prst="roundRect">
            <a:avLst>
              <a:gd name="adj" fmla="val 4615"/>
            </a:avLst>
          </a:prstGeom>
          <a:solidFill>
            <a:srgbClr val="F7F0F1"/>
          </a:solidFill>
          <a:ln/>
        </p:spPr>
        <p:txBody>
          <a:bodyPr/>
          <a:lstStyle/>
          <a:p>
            <a:endParaRPr lang="it-IT"/>
          </a:p>
        </p:txBody>
      </p:sp>
      <p:sp>
        <p:nvSpPr>
          <p:cNvPr id="6" name="Text 4"/>
          <p:cNvSpPr/>
          <p:nvPr/>
        </p:nvSpPr>
        <p:spPr>
          <a:xfrm>
            <a:off x="822960" y="3657600"/>
            <a:ext cx="3291840" cy="1005840"/>
          </a:xfrm>
          <a:prstGeom prst="rect">
            <a:avLst/>
          </a:prstGeom>
          <a:noFill/>
          <a:ln/>
        </p:spPr>
        <p:txBody>
          <a:bodyPr wrap="square" lIns="0" tIns="0" rIns="0" bIns="0" rtlCol="0" anchor="ctr"/>
          <a:lstStyle/>
          <a:p>
            <a:pPr marL="0" indent="0" algn="ctr">
              <a:buNone/>
            </a:pPr>
            <a:r>
              <a:rPr lang="en-US" sz="6000" b="1" dirty="0">
                <a:solidFill>
                  <a:srgbClr val="8C1D2F"/>
                </a:solidFill>
                <a:latin typeface="Cambria" pitchFamily="34" charset="0"/>
                <a:ea typeface="Cambria" pitchFamily="34" charset="-122"/>
                <a:cs typeface="Cambria" pitchFamily="34" charset="-120"/>
              </a:rPr>
              <a:t>65,437</a:t>
            </a:r>
            <a:endParaRPr lang="en-US" sz="6000" dirty="0"/>
          </a:p>
        </p:txBody>
      </p:sp>
      <p:sp>
        <p:nvSpPr>
          <p:cNvPr id="7" name="Text 5"/>
          <p:cNvSpPr/>
          <p:nvPr/>
        </p:nvSpPr>
        <p:spPr>
          <a:xfrm>
            <a:off x="1005840" y="4709160"/>
            <a:ext cx="2926080" cy="868680"/>
          </a:xfrm>
          <a:prstGeom prst="rect">
            <a:avLst/>
          </a:prstGeom>
          <a:noFill/>
          <a:ln/>
        </p:spPr>
        <p:txBody>
          <a:bodyPr wrap="square" lIns="0" tIns="0" rIns="0" bIns="0" rtlCol="0" anchor="ctr"/>
          <a:lstStyle/>
          <a:p>
            <a:pPr marL="0" indent="0" algn="ctr">
              <a:buNone/>
            </a:pPr>
            <a:r>
              <a:rPr lang="en-US" sz="1300" dirty="0">
                <a:solidFill>
                  <a:srgbClr val="6A6A6A"/>
                </a:solidFill>
                <a:latin typeface="Calibri" pitchFamily="34" charset="0"/>
                <a:ea typeface="Calibri" pitchFamily="34" charset="-122"/>
                <a:cs typeface="Calibri" pitchFamily="34" charset="-120"/>
              </a:rPr>
              <a:t>survey responses collected</a:t>
            </a:r>
            <a:endParaRPr lang="en-US" sz="1300" dirty="0"/>
          </a:p>
          <a:p>
            <a:pPr marL="0" indent="0" algn="ctr">
              <a:buNone/>
            </a:pPr>
            <a:r>
              <a:rPr lang="en-US" sz="1300" dirty="0">
                <a:solidFill>
                  <a:srgbClr val="6A6A6A"/>
                </a:solidFill>
                <a:latin typeface="Calibri" pitchFamily="34" charset="0"/>
                <a:ea typeface="Calibri" pitchFamily="34" charset="-122"/>
                <a:cs typeface="Calibri" pitchFamily="34" charset="-120"/>
              </a:rPr>
              <a:t>(Stack Overflow 2024)</a:t>
            </a:r>
            <a:endParaRPr lang="en-US" sz="1300" dirty="0"/>
          </a:p>
        </p:txBody>
      </p:sp>
      <p:sp>
        <p:nvSpPr>
          <p:cNvPr id="8" name="Shape 6"/>
          <p:cNvSpPr/>
          <p:nvPr/>
        </p:nvSpPr>
        <p:spPr>
          <a:xfrm>
            <a:off x="4572000" y="3383280"/>
            <a:ext cx="3291840" cy="2377440"/>
          </a:xfrm>
          <a:prstGeom prst="roundRect">
            <a:avLst>
              <a:gd name="adj" fmla="val 4615"/>
            </a:avLst>
          </a:prstGeom>
          <a:solidFill>
            <a:srgbClr val="F7F0F1"/>
          </a:solidFill>
          <a:ln/>
        </p:spPr>
        <p:txBody>
          <a:bodyPr/>
          <a:lstStyle/>
          <a:p>
            <a:endParaRPr lang="it-IT"/>
          </a:p>
        </p:txBody>
      </p:sp>
      <p:sp>
        <p:nvSpPr>
          <p:cNvPr id="9" name="Text 7"/>
          <p:cNvSpPr/>
          <p:nvPr/>
        </p:nvSpPr>
        <p:spPr>
          <a:xfrm>
            <a:off x="4572000" y="3657600"/>
            <a:ext cx="3291840" cy="1005840"/>
          </a:xfrm>
          <a:prstGeom prst="rect">
            <a:avLst/>
          </a:prstGeom>
          <a:noFill/>
          <a:ln/>
        </p:spPr>
        <p:txBody>
          <a:bodyPr wrap="square" lIns="0" tIns="0" rIns="0" bIns="0" rtlCol="0" anchor="ctr"/>
          <a:lstStyle/>
          <a:p>
            <a:pPr marL="0" indent="0" algn="ctr">
              <a:buNone/>
            </a:pPr>
            <a:r>
              <a:rPr lang="en-US" sz="6000" b="1" dirty="0">
                <a:solidFill>
                  <a:srgbClr val="8C1D2F"/>
                </a:solidFill>
                <a:latin typeface="Cambria" pitchFamily="34" charset="0"/>
                <a:ea typeface="Cambria" pitchFamily="34" charset="-122"/>
                <a:cs typeface="Cambria" pitchFamily="34" charset="-120"/>
              </a:rPr>
              <a:t>3</a:t>
            </a:r>
            <a:endParaRPr lang="en-US" sz="6000" dirty="0"/>
          </a:p>
        </p:txBody>
      </p:sp>
      <p:sp>
        <p:nvSpPr>
          <p:cNvPr id="10" name="Text 8"/>
          <p:cNvSpPr/>
          <p:nvPr/>
        </p:nvSpPr>
        <p:spPr>
          <a:xfrm>
            <a:off x="4754880" y="4709160"/>
            <a:ext cx="2926080" cy="868680"/>
          </a:xfrm>
          <a:prstGeom prst="rect">
            <a:avLst/>
          </a:prstGeom>
          <a:noFill/>
          <a:ln/>
        </p:spPr>
        <p:txBody>
          <a:bodyPr wrap="square" lIns="0" tIns="0" rIns="0" bIns="0" rtlCol="0" anchor="ctr"/>
          <a:lstStyle/>
          <a:p>
            <a:pPr marL="0" indent="0" algn="ctr">
              <a:buNone/>
            </a:pPr>
            <a:r>
              <a:rPr lang="en-US" sz="1300" dirty="0">
                <a:solidFill>
                  <a:srgbClr val="6A6A6A"/>
                </a:solidFill>
                <a:latin typeface="Calibri" pitchFamily="34" charset="0"/>
                <a:ea typeface="Calibri" pitchFamily="34" charset="-122"/>
                <a:cs typeface="Calibri" pitchFamily="34" charset="-120"/>
              </a:rPr>
              <a:t>heterogeneous sources</a:t>
            </a:r>
            <a:endParaRPr lang="en-US" sz="1300" dirty="0"/>
          </a:p>
          <a:p>
            <a:pPr marL="0" indent="0" algn="ctr">
              <a:buNone/>
            </a:pPr>
            <a:r>
              <a:rPr lang="en-US" sz="1300" dirty="0">
                <a:solidFill>
                  <a:srgbClr val="6A6A6A"/>
                </a:solidFill>
                <a:latin typeface="Calibri" pitchFamily="34" charset="0"/>
                <a:ea typeface="Calibri" pitchFamily="34" charset="-122"/>
                <a:cs typeface="Calibri" pitchFamily="34" charset="-120"/>
              </a:rPr>
              <a:t>integrated via ETL</a:t>
            </a:r>
            <a:endParaRPr lang="en-US" sz="1300" dirty="0"/>
          </a:p>
        </p:txBody>
      </p:sp>
      <p:sp>
        <p:nvSpPr>
          <p:cNvPr id="11" name="Shape 9"/>
          <p:cNvSpPr/>
          <p:nvPr/>
        </p:nvSpPr>
        <p:spPr>
          <a:xfrm>
            <a:off x="8321040" y="3383280"/>
            <a:ext cx="3291840" cy="2377440"/>
          </a:xfrm>
          <a:prstGeom prst="roundRect">
            <a:avLst>
              <a:gd name="adj" fmla="val 4615"/>
            </a:avLst>
          </a:prstGeom>
          <a:solidFill>
            <a:srgbClr val="F7F0F1"/>
          </a:solidFill>
          <a:ln/>
        </p:spPr>
        <p:txBody>
          <a:bodyPr/>
          <a:lstStyle/>
          <a:p>
            <a:endParaRPr lang="it-IT"/>
          </a:p>
        </p:txBody>
      </p:sp>
      <p:sp>
        <p:nvSpPr>
          <p:cNvPr id="12" name="Text 10"/>
          <p:cNvSpPr/>
          <p:nvPr/>
        </p:nvSpPr>
        <p:spPr>
          <a:xfrm>
            <a:off x="8321040" y="3657600"/>
            <a:ext cx="3291840" cy="1005840"/>
          </a:xfrm>
          <a:prstGeom prst="rect">
            <a:avLst/>
          </a:prstGeom>
          <a:noFill/>
          <a:ln/>
        </p:spPr>
        <p:txBody>
          <a:bodyPr wrap="square" lIns="0" tIns="0" rIns="0" bIns="0" rtlCol="0" anchor="ctr"/>
          <a:lstStyle/>
          <a:p>
            <a:pPr marL="0" indent="0" algn="ctr">
              <a:buNone/>
            </a:pPr>
            <a:r>
              <a:rPr lang="en-US" sz="6000" b="1" dirty="0">
                <a:solidFill>
                  <a:srgbClr val="8C1D2F"/>
                </a:solidFill>
                <a:latin typeface="Cambria" pitchFamily="34" charset="0"/>
                <a:ea typeface="Cambria" pitchFamily="34" charset="-122"/>
                <a:cs typeface="Cambria" pitchFamily="34" charset="-120"/>
              </a:rPr>
              <a:t>69</a:t>
            </a:r>
            <a:endParaRPr lang="en-US" sz="6000" dirty="0"/>
          </a:p>
        </p:txBody>
      </p:sp>
      <p:sp>
        <p:nvSpPr>
          <p:cNvPr id="13" name="Text 11"/>
          <p:cNvSpPr/>
          <p:nvPr/>
        </p:nvSpPr>
        <p:spPr>
          <a:xfrm>
            <a:off x="8503920" y="4709160"/>
            <a:ext cx="2926080" cy="868680"/>
          </a:xfrm>
          <a:prstGeom prst="rect">
            <a:avLst/>
          </a:prstGeom>
          <a:noFill/>
          <a:ln/>
        </p:spPr>
        <p:txBody>
          <a:bodyPr wrap="square" lIns="0" tIns="0" rIns="0" bIns="0" rtlCol="0" anchor="ctr"/>
          <a:lstStyle/>
          <a:p>
            <a:pPr marL="0" indent="0" algn="ctr">
              <a:buNone/>
            </a:pPr>
            <a:r>
              <a:rPr lang="en-US" sz="1300" dirty="0">
                <a:solidFill>
                  <a:srgbClr val="6A6A6A"/>
                </a:solidFill>
                <a:latin typeface="Calibri" pitchFamily="34" charset="0"/>
                <a:ea typeface="Calibri" pitchFamily="34" charset="-122"/>
                <a:cs typeface="Calibri" pitchFamily="34" charset="-120"/>
              </a:rPr>
              <a:t>countries with statistically</a:t>
            </a:r>
            <a:endParaRPr lang="en-US" sz="1300" dirty="0"/>
          </a:p>
          <a:p>
            <a:pPr marL="0" indent="0" algn="ctr">
              <a:buNone/>
            </a:pPr>
            <a:r>
              <a:rPr lang="en-US" sz="1300" dirty="0">
                <a:solidFill>
                  <a:srgbClr val="6A6A6A"/>
                </a:solidFill>
                <a:latin typeface="Calibri" pitchFamily="34" charset="0"/>
                <a:ea typeface="Calibri" pitchFamily="34" charset="-122"/>
                <a:cs typeface="Calibri" pitchFamily="34" charset="-120"/>
              </a:rPr>
              <a:t>usable samples</a:t>
            </a:r>
            <a:endParaRPr lang="en-US" sz="1300" dirty="0"/>
          </a:p>
        </p:txBody>
      </p:sp>
      <p:sp>
        <p:nvSpPr>
          <p:cNvPr id="14" name="Text 12"/>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Three sources, three roles</a:t>
            </a:r>
            <a:endParaRPr lang="en-US" sz="3000" dirty="0"/>
          </a:p>
        </p:txBody>
      </p:sp>
      <p:sp>
        <p:nvSpPr>
          <p:cNvPr id="3" name="Shape 1"/>
          <p:cNvSpPr/>
          <p:nvPr/>
        </p:nvSpPr>
        <p:spPr>
          <a:xfrm>
            <a:off x="548640" y="1234440"/>
            <a:ext cx="3566160" cy="4480560"/>
          </a:xfrm>
          <a:prstGeom prst="roundRect">
            <a:avLst>
              <a:gd name="adj" fmla="val 2564"/>
            </a:avLst>
          </a:prstGeom>
          <a:solidFill>
            <a:srgbClr val="F7F0F1"/>
          </a:solidFill>
          <a:ln/>
        </p:spPr>
        <p:txBody>
          <a:bodyPr/>
          <a:lstStyle/>
          <a:p>
            <a:endParaRPr lang="it-IT"/>
          </a:p>
        </p:txBody>
      </p:sp>
      <p:sp>
        <p:nvSpPr>
          <p:cNvPr id="4" name="Text 2"/>
          <p:cNvSpPr/>
          <p:nvPr/>
        </p:nvSpPr>
        <p:spPr>
          <a:xfrm>
            <a:off x="777240" y="1463040"/>
            <a:ext cx="3108960" cy="777240"/>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Stack Overflow Survey 2024</a:t>
            </a:r>
            <a:endParaRPr lang="en-US" sz="1700" dirty="0"/>
          </a:p>
        </p:txBody>
      </p:sp>
      <p:sp>
        <p:nvSpPr>
          <p:cNvPr id="5" name="Text 3"/>
          <p:cNvSpPr/>
          <p:nvPr/>
        </p:nvSpPr>
        <p:spPr>
          <a:xfrm>
            <a:off x="777240" y="2286000"/>
            <a:ext cx="3108960" cy="365760"/>
          </a:xfrm>
          <a:prstGeom prst="rect">
            <a:avLst/>
          </a:prstGeom>
          <a:noFill/>
          <a:ln/>
        </p:spPr>
        <p:txBody>
          <a:bodyPr wrap="square" lIns="0" tIns="0" rIns="0" bIns="0" rtlCol="0" anchor="ctr"/>
          <a:lstStyle/>
          <a:p>
            <a:pPr marL="0" indent="0">
              <a:buNone/>
            </a:pPr>
            <a:r>
              <a:rPr lang="en-US" sz="1200" b="1" dirty="0">
                <a:solidFill>
                  <a:srgbClr val="8C1D2F"/>
                </a:solidFill>
                <a:latin typeface="Calibri" pitchFamily="34" charset="0"/>
                <a:ea typeface="Calibri" pitchFamily="34" charset="-122"/>
                <a:cs typeface="Calibri" pitchFamily="34" charset="-120"/>
              </a:rPr>
              <a:t>PRIMARY </a:t>
            </a:r>
            <a:r>
              <a:rPr lang="en-US" sz="1200" b="1" dirty="0">
                <a:solidFill>
                  <a:srgbClr val="8C1D2F"/>
                </a:solidFill>
                <a:latin typeface="Calibri" pitchFamily="34" charset="0"/>
                <a:ea typeface="Calibri" pitchFamily="34" charset="-122"/>
                <a:cs typeface="Calibri" pitchFamily="34" charset="-120"/>
                <a:sym typeface="Wingdings" pitchFamily="2" charset="2"/>
              </a:rPr>
              <a:t> </a:t>
            </a:r>
            <a:r>
              <a:rPr lang="en-US" sz="1200" b="1" dirty="0">
                <a:solidFill>
                  <a:srgbClr val="8C1D2F"/>
                </a:solidFill>
                <a:latin typeface="Calibri" pitchFamily="34" charset="0"/>
                <a:ea typeface="Calibri" pitchFamily="34" charset="-122"/>
                <a:cs typeface="Calibri" pitchFamily="34" charset="-120"/>
              </a:rPr>
              <a:t>the facts</a:t>
            </a:r>
            <a:endParaRPr lang="en-US" sz="1200" dirty="0"/>
          </a:p>
        </p:txBody>
      </p:sp>
      <p:sp>
        <p:nvSpPr>
          <p:cNvPr id="6" name="Text 4"/>
          <p:cNvSpPr/>
          <p:nvPr/>
        </p:nvSpPr>
        <p:spPr>
          <a:xfrm>
            <a:off x="777240" y="2743200"/>
            <a:ext cx="3154680" cy="2743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65,437 responses × 114 columns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Grain: one respondent</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Measure: ConvertedCompYearly (USD)</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Individual attributes → dimensions</a:t>
            </a:r>
            <a:endParaRPr lang="en-US" sz="1250" dirty="0"/>
          </a:p>
        </p:txBody>
      </p:sp>
      <p:sp>
        <p:nvSpPr>
          <p:cNvPr id="7" name="Shape 5"/>
          <p:cNvSpPr/>
          <p:nvPr/>
        </p:nvSpPr>
        <p:spPr>
          <a:xfrm>
            <a:off x="4343400" y="1234440"/>
            <a:ext cx="3566160" cy="4480560"/>
          </a:xfrm>
          <a:prstGeom prst="roundRect">
            <a:avLst>
              <a:gd name="adj" fmla="val 2564"/>
            </a:avLst>
          </a:prstGeom>
          <a:solidFill>
            <a:srgbClr val="F7F0F1"/>
          </a:solidFill>
          <a:ln/>
        </p:spPr>
        <p:txBody>
          <a:bodyPr/>
          <a:lstStyle/>
          <a:p>
            <a:endParaRPr lang="it-IT"/>
          </a:p>
        </p:txBody>
      </p:sp>
      <p:sp>
        <p:nvSpPr>
          <p:cNvPr id="8" name="Text 6"/>
          <p:cNvSpPr/>
          <p:nvPr/>
        </p:nvSpPr>
        <p:spPr>
          <a:xfrm>
            <a:off x="4572000" y="1463040"/>
            <a:ext cx="3108960" cy="777240"/>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ISO Country Mapping</a:t>
            </a:r>
            <a:endParaRPr lang="en-US" sz="1700" dirty="0"/>
          </a:p>
        </p:txBody>
      </p:sp>
      <p:sp>
        <p:nvSpPr>
          <p:cNvPr id="9" name="Text 7"/>
          <p:cNvSpPr/>
          <p:nvPr/>
        </p:nvSpPr>
        <p:spPr>
          <a:xfrm>
            <a:off x="4572000" y="2286000"/>
            <a:ext cx="3108960" cy="365760"/>
          </a:xfrm>
          <a:prstGeom prst="rect">
            <a:avLst/>
          </a:prstGeom>
          <a:noFill/>
          <a:ln/>
        </p:spPr>
        <p:txBody>
          <a:bodyPr wrap="square" lIns="0" tIns="0" rIns="0" bIns="0" rtlCol="0" anchor="ctr"/>
          <a:lstStyle/>
          <a:p>
            <a:pPr marL="0" indent="0">
              <a:buNone/>
            </a:pPr>
            <a:r>
              <a:rPr lang="en-US" sz="1200" b="1" dirty="0">
                <a:solidFill>
                  <a:srgbClr val="8C1D2F"/>
                </a:solidFill>
                <a:latin typeface="Calibri" pitchFamily="34" charset="0"/>
                <a:ea typeface="Calibri" pitchFamily="34" charset="-122"/>
                <a:cs typeface="Calibri" pitchFamily="34" charset="-120"/>
              </a:rPr>
              <a:t>MASTER </a:t>
            </a:r>
            <a:r>
              <a:rPr lang="en-US" sz="1200" b="1" dirty="0">
                <a:solidFill>
                  <a:srgbClr val="8C1D2F"/>
                </a:solidFill>
                <a:latin typeface="Calibri" pitchFamily="34" charset="0"/>
                <a:ea typeface="Calibri" pitchFamily="34" charset="-122"/>
                <a:cs typeface="Calibri" pitchFamily="34" charset="-120"/>
                <a:sym typeface="Wingdings" pitchFamily="2" charset="2"/>
              </a:rPr>
              <a:t> </a:t>
            </a:r>
            <a:r>
              <a:rPr lang="en-US" sz="1200" b="1" dirty="0">
                <a:solidFill>
                  <a:srgbClr val="8C1D2F"/>
                </a:solidFill>
                <a:latin typeface="Calibri" pitchFamily="34" charset="0"/>
                <a:ea typeface="Calibri" pitchFamily="34" charset="-122"/>
                <a:cs typeface="Calibri" pitchFamily="34" charset="-120"/>
              </a:rPr>
              <a:t>the canonical key</a:t>
            </a:r>
            <a:endParaRPr lang="en-US" sz="1200" dirty="0"/>
          </a:p>
        </p:txBody>
      </p:sp>
      <p:sp>
        <p:nvSpPr>
          <p:cNvPr id="10" name="Text 8"/>
          <p:cNvSpPr/>
          <p:nvPr/>
        </p:nvSpPr>
        <p:spPr>
          <a:xfrm>
            <a:off x="4572000" y="2743200"/>
            <a:ext cx="3154680" cy="2743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249 countries, ISO alpha-3 codes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Grain: one country</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Hierarchy: country → sub-region → region</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Anchor for all name reconciliation</a:t>
            </a:r>
            <a:endParaRPr lang="en-US" sz="1250" dirty="0"/>
          </a:p>
        </p:txBody>
      </p:sp>
      <p:sp>
        <p:nvSpPr>
          <p:cNvPr id="11" name="Shape 9"/>
          <p:cNvSpPr/>
          <p:nvPr/>
        </p:nvSpPr>
        <p:spPr>
          <a:xfrm>
            <a:off x="8138160" y="1234440"/>
            <a:ext cx="3566160" cy="4480560"/>
          </a:xfrm>
          <a:prstGeom prst="roundRect">
            <a:avLst>
              <a:gd name="adj" fmla="val 2564"/>
            </a:avLst>
          </a:prstGeom>
          <a:solidFill>
            <a:srgbClr val="F7F0F1"/>
          </a:solidFill>
          <a:ln/>
        </p:spPr>
        <p:txBody>
          <a:bodyPr/>
          <a:lstStyle/>
          <a:p>
            <a:endParaRPr lang="it-IT"/>
          </a:p>
        </p:txBody>
      </p:sp>
      <p:sp>
        <p:nvSpPr>
          <p:cNvPr id="12" name="Text 10"/>
          <p:cNvSpPr/>
          <p:nvPr/>
        </p:nvSpPr>
        <p:spPr>
          <a:xfrm>
            <a:off x="8366760" y="1463040"/>
            <a:ext cx="3108960" cy="777240"/>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Cost of Living Index 2024</a:t>
            </a:r>
            <a:endParaRPr lang="en-US" sz="1700" dirty="0"/>
          </a:p>
        </p:txBody>
      </p:sp>
      <p:sp>
        <p:nvSpPr>
          <p:cNvPr id="13" name="Text 11"/>
          <p:cNvSpPr/>
          <p:nvPr/>
        </p:nvSpPr>
        <p:spPr>
          <a:xfrm>
            <a:off x="8366760" y="2286000"/>
            <a:ext cx="3108960" cy="365760"/>
          </a:xfrm>
          <a:prstGeom prst="rect">
            <a:avLst/>
          </a:prstGeom>
          <a:noFill/>
          <a:ln/>
        </p:spPr>
        <p:txBody>
          <a:bodyPr wrap="square" lIns="0" tIns="0" rIns="0" bIns="0" rtlCol="0" anchor="ctr"/>
          <a:lstStyle/>
          <a:p>
            <a:pPr marL="0" indent="0">
              <a:buNone/>
            </a:pPr>
            <a:r>
              <a:rPr lang="en-US" sz="1200" b="1" dirty="0">
                <a:solidFill>
                  <a:srgbClr val="8C1D2F"/>
                </a:solidFill>
                <a:latin typeface="Calibri" pitchFamily="34" charset="0"/>
                <a:ea typeface="Calibri" pitchFamily="34" charset="-122"/>
                <a:cs typeface="Calibri" pitchFamily="34" charset="-120"/>
              </a:rPr>
              <a:t>CONTEXT </a:t>
            </a:r>
            <a:r>
              <a:rPr lang="en-US" sz="1200" b="1" dirty="0">
                <a:solidFill>
                  <a:srgbClr val="8C1D2F"/>
                </a:solidFill>
                <a:latin typeface="Calibri" pitchFamily="34" charset="0"/>
                <a:ea typeface="Calibri" pitchFamily="34" charset="-122"/>
                <a:cs typeface="Calibri" pitchFamily="34" charset="-120"/>
                <a:sym typeface="Wingdings" pitchFamily="2" charset="2"/>
              </a:rPr>
              <a:t> </a:t>
            </a:r>
            <a:r>
              <a:rPr lang="en-US" sz="1200" b="1" dirty="0">
                <a:solidFill>
                  <a:srgbClr val="8C1D2F"/>
                </a:solidFill>
                <a:latin typeface="Calibri" pitchFamily="34" charset="0"/>
                <a:ea typeface="Calibri" pitchFamily="34" charset="-122"/>
                <a:cs typeface="Calibri" pitchFamily="34" charset="-120"/>
              </a:rPr>
              <a:t>the adjustment</a:t>
            </a:r>
            <a:endParaRPr lang="en-US" sz="1200" dirty="0"/>
          </a:p>
        </p:txBody>
      </p:sp>
      <p:sp>
        <p:nvSpPr>
          <p:cNvPr id="14" name="Text 12"/>
          <p:cNvSpPr/>
          <p:nvPr/>
        </p:nvSpPr>
        <p:spPr>
          <a:xfrm>
            <a:off x="8366760" y="2743200"/>
            <a:ext cx="3154680" cy="2743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121 countries (Numbeo, NY = 100)</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Grain: one country</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Cost of living, rent, purchasing power</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Enables the adjusted measure</a:t>
            </a:r>
            <a:endParaRPr lang="en-US" sz="1250" dirty="0"/>
          </a:p>
        </p:txBody>
      </p:sp>
      <p:sp>
        <p:nvSpPr>
          <p:cNvPr id="15" name="Text 13"/>
          <p:cNvSpPr/>
          <p:nvPr/>
        </p:nvSpPr>
        <p:spPr>
          <a:xfrm>
            <a:off x="548640" y="5943600"/>
            <a:ext cx="10972800" cy="365760"/>
          </a:xfrm>
          <a:prstGeom prst="rect">
            <a:avLst/>
          </a:prstGeom>
          <a:noFill/>
          <a:ln/>
        </p:spPr>
        <p:txBody>
          <a:bodyPr wrap="square" lIns="0" tIns="0" rIns="0" bIns="0" rtlCol="0" anchor="ctr"/>
          <a:lstStyle/>
          <a:p>
            <a:pPr marL="0" indent="0">
              <a:buNone/>
            </a:pPr>
            <a:r>
              <a:rPr lang="en-US" sz="1400" i="1" dirty="0">
                <a:solidFill>
                  <a:srgbClr val="2F3C7E"/>
                </a:solidFill>
                <a:latin typeface="Calibri" pitchFamily="34" charset="0"/>
                <a:ea typeface="Calibri" pitchFamily="34" charset="-122"/>
                <a:cs typeface="Calibri" pitchFamily="34" charset="-120"/>
              </a:rPr>
              <a:t>No source alone can answer the question, the value is in the integration.</a:t>
            </a:r>
            <a:endParaRPr lang="en-US" sz="1400" dirty="0"/>
          </a:p>
        </p:txBody>
      </p:sp>
      <p:sp>
        <p:nvSpPr>
          <p:cNvPr id="16" name="Text 1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Source profiling → explicit cleaning rules</a:t>
            </a:r>
            <a:endParaRPr lang="en-US" sz="3000" dirty="0"/>
          </a:p>
        </p:txBody>
      </p:sp>
      <p:sp>
        <p:nvSpPr>
          <p:cNvPr id="3" name="Text 1"/>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6A6A6A"/>
                </a:solidFill>
                <a:latin typeface="Calibri" pitchFamily="34" charset="0"/>
                <a:ea typeface="Calibri" pitchFamily="34" charset="-122"/>
                <a:cs typeface="Calibri" pitchFamily="34" charset="-120"/>
              </a:rPr>
              <a:t>Every rule is documented, motivated, and implemented in the ETL. No silent cleaning.</a:t>
            </a:r>
            <a:endParaRPr lang="en-US" sz="1400" dirty="0"/>
          </a:p>
        </p:txBody>
      </p:sp>
      <p:sp>
        <p:nvSpPr>
          <p:cNvPr id="4" name="Shape 2"/>
          <p:cNvSpPr/>
          <p:nvPr/>
        </p:nvSpPr>
        <p:spPr>
          <a:xfrm>
            <a:off x="548640" y="1554480"/>
            <a:ext cx="5532120" cy="1298448"/>
          </a:xfrm>
          <a:prstGeom prst="roundRect">
            <a:avLst>
              <a:gd name="adj" fmla="val 5634"/>
            </a:avLst>
          </a:prstGeom>
          <a:solidFill>
            <a:srgbClr val="F7F0F1"/>
          </a:solidFill>
          <a:ln/>
        </p:spPr>
        <p:txBody>
          <a:bodyPr/>
          <a:lstStyle/>
          <a:p>
            <a:endParaRPr lang="it-IT"/>
          </a:p>
        </p:txBody>
      </p:sp>
      <p:sp>
        <p:nvSpPr>
          <p:cNvPr id="5" name="Shape 3"/>
          <p:cNvSpPr/>
          <p:nvPr/>
        </p:nvSpPr>
        <p:spPr>
          <a:xfrm>
            <a:off x="713232" y="1901952"/>
            <a:ext cx="566928" cy="566928"/>
          </a:xfrm>
          <a:prstGeom prst="ellipse">
            <a:avLst/>
          </a:prstGeom>
          <a:solidFill>
            <a:srgbClr val="8C1D2F"/>
          </a:solidFill>
          <a:ln/>
        </p:spPr>
        <p:txBody>
          <a:bodyPr/>
          <a:lstStyle/>
          <a:p>
            <a:endParaRPr lang="it-IT"/>
          </a:p>
        </p:txBody>
      </p:sp>
      <p:sp>
        <p:nvSpPr>
          <p:cNvPr id="6" name="Text 4"/>
          <p:cNvSpPr/>
          <p:nvPr/>
        </p:nvSpPr>
        <p:spPr>
          <a:xfrm>
            <a:off x="713232" y="1901952"/>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R1</a:t>
            </a:r>
            <a:endParaRPr lang="en-US" sz="1500" dirty="0"/>
          </a:p>
        </p:txBody>
      </p:sp>
      <p:sp>
        <p:nvSpPr>
          <p:cNvPr id="7" name="Text 5"/>
          <p:cNvSpPr/>
          <p:nvPr/>
        </p:nvSpPr>
        <p:spPr>
          <a:xfrm>
            <a:off x="1444752" y="1664208"/>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Valid compensation only</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keep respondents with </a:t>
            </a:r>
            <a:r>
              <a:rPr lang="en-US" sz="1150" dirty="0" err="1">
                <a:solidFill>
                  <a:srgbClr val="6A6A6A"/>
                </a:solidFill>
                <a:latin typeface="Calibri" pitchFamily="34" charset="0"/>
                <a:ea typeface="Calibri" pitchFamily="34" charset="-122"/>
                <a:cs typeface="Calibri" pitchFamily="34" charset="-120"/>
              </a:rPr>
              <a:t>ConvertedCompYearly</a:t>
            </a:r>
            <a:r>
              <a:rPr lang="en-US" sz="1150" dirty="0">
                <a:solidFill>
                  <a:srgbClr val="6A6A6A"/>
                </a:solidFill>
                <a:latin typeface="Calibri" pitchFamily="34" charset="0"/>
                <a:ea typeface="Calibri" pitchFamily="34" charset="-122"/>
                <a:cs typeface="Calibri" pitchFamily="34" charset="-120"/>
              </a:rPr>
              <a:t> </a:t>
            </a:r>
            <a:r>
              <a:rPr lang="en-US" sz="1150" dirty="0">
                <a:solidFill>
                  <a:srgbClr val="6A6A6A"/>
                </a:solidFill>
                <a:latin typeface="Calibri" pitchFamily="34" charset="0"/>
                <a:ea typeface="Calibri" pitchFamily="34" charset="-122"/>
                <a:cs typeface="Calibri" pitchFamily="34" charset="-120"/>
                <a:sym typeface="Wingdings" pitchFamily="2" charset="2"/>
              </a:rPr>
              <a:t> </a:t>
            </a:r>
            <a:r>
              <a:rPr lang="en-US" sz="1150" dirty="0">
                <a:solidFill>
                  <a:srgbClr val="6A6A6A"/>
                </a:solidFill>
                <a:latin typeface="Calibri" pitchFamily="34" charset="0"/>
                <a:ea typeface="Calibri" pitchFamily="34" charset="-122"/>
                <a:cs typeface="Calibri" pitchFamily="34" charset="-120"/>
              </a:rPr>
              <a:t>23,435 of 65,437 (35.8%)</a:t>
            </a:r>
            <a:endParaRPr lang="en-US" sz="1350" dirty="0"/>
          </a:p>
        </p:txBody>
      </p:sp>
      <p:sp>
        <p:nvSpPr>
          <p:cNvPr id="8" name="Shape 6"/>
          <p:cNvSpPr/>
          <p:nvPr/>
        </p:nvSpPr>
        <p:spPr>
          <a:xfrm>
            <a:off x="6355080" y="1554480"/>
            <a:ext cx="5532120" cy="1298448"/>
          </a:xfrm>
          <a:prstGeom prst="roundRect">
            <a:avLst>
              <a:gd name="adj" fmla="val 5634"/>
            </a:avLst>
          </a:prstGeom>
          <a:solidFill>
            <a:srgbClr val="F7F0F1"/>
          </a:solidFill>
          <a:ln/>
        </p:spPr>
        <p:txBody>
          <a:bodyPr/>
          <a:lstStyle/>
          <a:p>
            <a:endParaRPr lang="it-IT"/>
          </a:p>
        </p:txBody>
      </p:sp>
      <p:sp>
        <p:nvSpPr>
          <p:cNvPr id="9" name="Shape 7"/>
          <p:cNvSpPr/>
          <p:nvPr/>
        </p:nvSpPr>
        <p:spPr>
          <a:xfrm>
            <a:off x="6519672" y="1901952"/>
            <a:ext cx="566928" cy="566928"/>
          </a:xfrm>
          <a:prstGeom prst="ellipse">
            <a:avLst/>
          </a:prstGeom>
          <a:solidFill>
            <a:srgbClr val="8C1D2F"/>
          </a:solidFill>
          <a:ln/>
        </p:spPr>
        <p:txBody>
          <a:bodyPr/>
          <a:lstStyle/>
          <a:p>
            <a:endParaRPr lang="it-IT"/>
          </a:p>
        </p:txBody>
      </p:sp>
      <p:sp>
        <p:nvSpPr>
          <p:cNvPr id="10" name="Text 8"/>
          <p:cNvSpPr/>
          <p:nvPr/>
        </p:nvSpPr>
        <p:spPr>
          <a:xfrm>
            <a:off x="6519672" y="1901952"/>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R2</a:t>
            </a:r>
            <a:endParaRPr lang="en-US" sz="1500" dirty="0"/>
          </a:p>
        </p:txBody>
      </p:sp>
      <p:sp>
        <p:nvSpPr>
          <p:cNvPr id="11" name="Text 9"/>
          <p:cNvSpPr/>
          <p:nvPr/>
        </p:nvSpPr>
        <p:spPr>
          <a:xfrm>
            <a:off x="7251192" y="1664208"/>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Outlier trimming, 1st–99th pct</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self-reported pay from 1 $ to 16.2 M$ — keep 222 → 398,026 $ (22,909 facts)</a:t>
            </a:r>
            <a:endParaRPr lang="en-US" sz="1350" dirty="0"/>
          </a:p>
        </p:txBody>
      </p:sp>
      <p:sp>
        <p:nvSpPr>
          <p:cNvPr id="12" name="Shape 10"/>
          <p:cNvSpPr/>
          <p:nvPr/>
        </p:nvSpPr>
        <p:spPr>
          <a:xfrm>
            <a:off x="548640" y="3035808"/>
            <a:ext cx="5532120" cy="1298448"/>
          </a:xfrm>
          <a:prstGeom prst="roundRect">
            <a:avLst>
              <a:gd name="adj" fmla="val 5634"/>
            </a:avLst>
          </a:prstGeom>
          <a:solidFill>
            <a:srgbClr val="F7F0F1"/>
          </a:solidFill>
          <a:ln/>
        </p:spPr>
        <p:txBody>
          <a:bodyPr/>
          <a:lstStyle/>
          <a:p>
            <a:endParaRPr lang="it-IT"/>
          </a:p>
        </p:txBody>
      </p:sp>
      <p:sp>
        <p:nvSpPr>
          <p:cNvPr id="13" name="Shape 11"/>
          <p:cNvSpPr/>
          <p:nvPr/>
        </p:nvSpPr>
        <p:spPr>
          <a:xfrm>
            <a:off x="713232" y="3383280"/>
            <a:ext cx="566928" cy="566928"/>
          </a:xfrm>
          <a:prstGeom prst="ellipse">
            <a:avLst/>
          </a:prstGeom>
          <a:solidFill>
            <a:srgbClr val="8C1D2F"/>
          </a:solidFill>
          <a:ln/>
        </p:spPr>
        <p:txBody>
          <a:bodyPr/>
          <a:lstStyle/>
          <a:p>
            <a:endParaRPr lang="it-IT"/>
          </a:p>
        </p:txBody>
      </p:sp>
      <p:sp>
        <p:nvSpPr>
          <p:cNvPr id="14" name="Text 12"/>
          <p:cNvSpPr/>
          <p:nvPr/>
        </p:nvSpPr>
        <p:spPr>
          <a:xfrm>
            <a:off x="713232" y="33832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R3</a:t>
            </a:r>
            <a:endParaRPr lang="en-US" sz="1500" dirty="0"/>
          </a:p>
        </p:txBody>
      </p:sp>
      <p:sp>
        <p:nvSpPr>
          <p:cNvPr id="15" name="Text 13"/>
          <p:cNvSpPr/>
          <p:nvPr/>
        </p:nvSpPr>
        <p:spPr>
          <a:xfrm>
            <a:off x="1444752" y="3145536"/>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Industry: 'Unknown' member</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31.8% nulls that become an explicit dimension member, no fact is lost</a:t>
            </a:r>
            <a:endParaRPr lang="en-US" sz="1350" dirty="0"/>
          </a:p>
        </p:txBody>
      </p:sp>
      <p:sp>
        <p:nvSpPr>
          <p:cNvPr id="16" name="Shape 14"/>
          <p:cNvSpPr/>
          <p:nvPr/>
        </p:nvSpPr>
        <p:spPr>
          <a:xfrm>
            <a:off x="6355080" y="3035808"/>
            <a:ext cx="5532120" cy="1298448"/>
          </a:xfrm>
          <a:prstGeom prst="roundRect">
            <a:avLst>
              <a:gd name="adj" fmla="val 5634"/>
            </a:avLst>
          </a:prstGeom>
          <a:solidFill>
            <a:srgbClr val="F7F0F1"/>
          </a:solidFill>
          <a:ln/>
        </p:spPr>
        <p:txBody>
          <a:bodyPr/>
          <a:lstStyle/>
          <a:p>
            <a:endParaRPr lang="it-IT"/>
          </a:p>
        </p:txBody>
      </p:sp>
      <p:sp>
        <p:nvSpPr>
          <p:cNvPr id="17" name="Shape 15"/>
          <p:cNvSpPr/>
          <p:nvPr/>
        </p:nvSpPr>
        <p:spPr>
          <a:xfrm>
            <a:off x="6519672" y="3383280"/>
            <a:ext cx="566928" cy="566928"/>
          </a:xfrm>
          <a:prstGeom prst="ellipse">
            <a:avLst/>
          </a:prstGeom>
          <a:solidFill>
            <a:srgbClr val="8C1D2F"/>
          </a:solidFill>
          <a:ln/>
        </p:spPr>
        <p:txBody>
          <a:bodyPr/>
          <a:lstStyle/>
          <a:p>
            <a:endParaRPr lang="it-IT"/>
          </a:p>
        </p:txBody>
      </p:sp>
      <p:sp>
        <p:nvSpPr>
          <p:cNvPr id="18" name="Text 16"/>
          <p:cNvSpPr/>
          <p:nvPr/>
        </p:nvSpPr>
        <p:spPr>
          <a:xfrm>
            <a:off x="6519672" y="33832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R4</a:t>
            </a:r>
            <a:endParaRPr lang="en-US" sz="1500" dirty="0"/>
          </a:p>
        </p:txBody>
      </p:sp>
      <p:sp>
        <p:nvSpPr>
          <p:cNvPr id="19" name="Text 17"/>
          <p:cNvSpPr/>
          <p:nvPr/>
        </p:nvSpPr>
        <p:spPr>
          <a:xfrm>
            <a:off x="7251192" y="3145536"/>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Country threshold at query time</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n ≥ 30 enforced in OLAP (HAVING), never in ETL </a:t>
            </a:r>
            <a:r>
              <a:rPr lang="en-US" sz="1150" dirty="0">
                <a:solidFill>
                  <a:srgbClr val="6A6A6A"/>
                </a:solidFill>
                <a:latin typeface="Calibri" pitchFamily="34" charset="0"/>
                <a:ea typeface="Calibri" pitchFamily="34" charset="-122"/>
                <a:cs typeface="Calibri" pitchFamily="34" charset="-120"/>
                <a:sym typeface="Wingdings" pitchFamily="2" charset="2"/>
              </a:rPr>
              <a:t> </a:t>
            </a:r>
            <a:r>
              <a:rPr lang="en-US" sz="1150" dirty="0">
                <a:solidFill>
                  <a:srgbClr val="6A6A6A"/>
                </a:solidFill>
                <a:latin typeface="Calibri" pitchFamily="34" charset="0"/>
                <a:ea typeface="Calibri" pitchFamily="34" charset="-122"/>
                <a:cs typeface="Calibri" pitchFamily="34" charset="-120"/>
              </a:rPr>
              <a:t> the DW keeps full grain</a:t>
            </a:r>
            <a:endParaRPr lang="en-US" sz="1350" dirty="0"/>
          </a:p>
        </p:txBody>
      </p:sp>
      <p:sp>
        <p:nvSpPr>
          <p:cNvPr id="20" name="Shape 18"/>
          <p:cNvSpPr/>
          <p:nvPr/>
        </p:nvSpPr>
        <p:spPr>
          <a:xfrm>
            <a:off x="548640" y="4517136"/>
            <a:ext cx="5532120" cy="1298448"/>
          </a:xfrm>
          <a:prstGeom prst="roundRect">
            <a:avLst>
              <a:gd name="adj" fmla="val 5634"/>
            </a:avLst>
          </a:prstGeom>
          <a:solidFill>
            <a:srgbClr val="F7F0F1"/>
          </a:solidFill>
          <a:ln/>
        </p:spPr>
        <p:txBody>
          <a:bodyPr/>
          <a:lstStyle/>
          <a:p>
            <a:endParaRPr lang="it-IT"/>
          </a:p>
        </p:txBody>
      </p:sp>
      <p:sp>
        <p:nvSpPr>
          <p:cNvPr id="21" name="Shape 19"/>
          <p:cNvSpPr/>
          <p:nvPr/>
        </p:nvSpPr>
        <p:spPr>
          <a:xfrm>
            <a:off x="713232" y="4864608"/>
            <a:ext cx="566928" cy="566928"/>
          </a:xfrm>
          <a:prstGeom prst="ellipse">
            <a:avLst/>
          </a:prstGeom>
          <a:solidFill>
            <a:srgbClr val="8C1D2F"/>
          </a:solidFill>
          <a:ln/>
        </p:spPr>
        <p:txBody>
          <a:bodyPr/>
          <a:lstStyle/>
          <a:p>
            <a:endParaRPr lang="it-IT"/>
          </a:p>
        </p:txBody>
      </p:sp>
      <p:sp>
        <p:nvSpPr>
          <p:cNvPr id="22" name="Text 20"/>
          <p:cNvSpPr/>
          <p:nvPr/>
        </p:nvSpPr>
        <p:spPr>
          <a:xfrm>
            <a:off x="713232"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R5</a:t>
            </a:r>
            <a:endParaRPr lang="en-US" sz="1500" dirty="0"/>
          </a:p>
        </p:txBody>
      </p:sp>
      <p:sp>
        <p:nvSpPr>
          <p:cNvPr id="23" name="Text 21"/>
          <p:cNvSpPr/>
          <p:nvPr/>
        </p:nvSpPr>
        <p:spPr>
          <a:xfrm>
            <a:off x="1444752" y="4626864"/>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Documented exclusions</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'Nomadic' (not a country) and Kosovo (no ISO code): 8 respondents total</a:t>
            </a:r>
            <a:endParaRPr lang="en-US" sz="1350" dirty="0"/>
          </a:p>
        </p:txBody>
      </p:sp>
      <p:sp>
        <p:nvSpPr>
          <p:cNvPr id="24" name="Shape 22"/>
          <p:cNvSpPr/>
          <p:nvPr/>
        </p:nvSpPr>
        <p:spPr>
          <a:xfrm>
            <a:off x="6355080" y="4517136"/>
            <a:ext cx="5532120" cy="1298448"/>
          </a:xfrm>
          <a:prstGeom prst="roundRect">
            <a:avLst>
              <a:gd name="adj" fmla="val 5634"/>
            </a:avLst>
          </a:prstGeom>
          <a:solidFill>
            <a:srgbClr val="F7F0F1"/>
          </a:solidFill>
          <a:ln/>
        </p:spPr>
        <p:txBody>
          <a:bodyPr/>
          <a:lstStyle/>
          <a:p>
            <a:endParaRPr lang="it-IT"/>
          </a:p>
        </p:txBody>
      </p:sp>
      <p:sp>
        <p:nvSpPr>
          <p:cNvPr id="25" name="Shape 23"/>
          <p:cNvSpPr/>
          <p:nvPr/>
        </p:nvSpPr>
        <p:spPr>
          <a:xfrm>
            <a:off x="6519672" y="4864608"/>
            <a:ext cx="566928" cy="566928"/>
          </a:xfrm>
          <a:prstGeom prst="ellipse">
            <a:avLst/>
          </a:prstGeom>
          <a:solidFill>
            <a:srgbClr val="8C1D2F"/>
          </a:solidFill>
          <a:ln/>
        </p:spPr>
        <p:txBody>
          <a:bodyPr/>
          <a:lstStyle/>
          <a:p>
            <a:endParaRPr lang="it-IT"/>
          </a:p>
        </p:txBody>
      </p:sp>
      <p:sp>
        <p:nvSpPr>
          <p:cNvPr id="26" name="Text 24"/>
          <p:cNvSpPr/>
          <p:nvPr/>
        </p:nvSpPr>
        <p:spPr>
          <a:xfrm>
            <a:off x="6519672"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R6</a:t>
            </a:r>
            <a:endParaRPr lang="en-US" sz="1500" dirty="0"/>
          </a:p>
        </p:txBody>
      </p:sp>
      <p:sp>
        <p:nvSpPr>
          <p:cNvPr id="27" name="Text 25"/>
          <p:cNvSpPr/>
          <p:nvPr/>
        </p:nvSpPr>
        <p:spPr>
          <a:xfrm>
            <a:off x="7251192" y="4626864"/>
            <a:ext cx="4526280" cy="109728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Master validated and fixed</a:t>
            </a:r>
            <a:endParaRPr lang="en-US" sz="1350" dirty="0"/>
          </a:p>
          <a:p>
            <a:pPr marL="0" indent="0">
              <a:buNone/>
            </a:pPr>
            <a:r>
              <a:rPr lang="en-US" sz="1150" dirty="0">
                <a:solidFill>
                  <a:srgbClr val="6A6A6A"/>
                </a:solidFill>
                <a:latin typeface="Calibri" pitchFamily="34" charset="0"/>
                <a:ea typeface="Calibri" pitchFamily="34" charset="-122"/>
                <a:cs typeface="Calibri" pitchFamily="34" charset="-120"/>
              </a:rPr>
              <a:t>row named 'South Korea' carried PRK (North Korea!) </a:t>
            </a:r>
            <a:r>
              <a:rPr lang="en-US" sz="1150" dirty="0">
                <a:solidFill>
                  <a:srgbClr val="6A6A6A"/>
                </a:solidFill>
                <a:latin typeface="Calibri" pitchFamily="34" charset="0"/>
                <a:ea typeface="Calibri" pitchFamily="34" charset="-122"/>
                <a:cs typeface="Calibri" pitchFamily="34" charset="-120"/>
                <a:sym typeface="Wingdings" pitchFamily="2" charset="2"/>
              </a:rPr>
              <a:t></a:t>
            </a:r>
            <a:r>
              <a:rPr lang="en-US" sz="1150" dirty="0">
                <a:solidFill>
                  <a:srgbClr val="6A6A6A"/>
                </a:solidFill>
                <a:latin typeface="Calibri" pitchFamily="34" charset="0"/>
                <a:ea typeface="Calibri" pitchFamily="34" charset="-122"/>
                <a:cs typeface="Calibri" pitchFamily="34" charset="-120"/>
              </a:rPr>
              <a:t> renamed, joins on codes</a:t>
            </a:r>
            <a:endParaRPr lang="en-US" sz="1350" dirty="0"/>
          </a:p>
        </p:txBody>
      </p:sp>
      <p:sp>
        <p:nvSpPr>
          <p:cNvPr id="28" name="Text 26"/>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central ETL challenge: country-name reconciliation</a:t>
            </a:r>
            <a:endParaRPr lang="en-US" sz="3000" dirty="0"/>
          </a:p>
        </p:txBody>
      </p:sp>
      <p:sp>
        <p:nvSpPr>
          <p:cNvPr id="3" name="Shape 1"/>
          <p:cNvSpPr/>
          <p:nvPr/>
        </p:nvSpPr>
        <p:spPr>
          <a:xfrm>
            <a:off x="640080" y="1463040"/>
            <a:ext cx="3291840" cy="1371600"/>
          </a:xfrm>
          <a:prstGeom prst="roundRect">
            <a:avLst>
              <a:gd name="adj" fmla="val 6667"/>
            </a:avLst>
          </a:prstGeom>
          <a:solidFill>
            <a:srgbClr val="F7F0F1"/>
          </a:solidFill>
          <a:ln/>
        </p:spPr>
        <p:txBody>
          <a:bodyPr/>
          <a:lstStyle/>
          <a:p>
            <a:endParaRPr lang="it-IT"/>
          </a:p>
        </p:txBody>
      </p:sp>
      <p:sp>
        <p:nvSpPr>
          <p:cNvPr id="4" name="Text 2"/>
          <p:cNvSpPr/>
          <p:nvPr/>
        </p:nvSpPr>
        <p:spPr>
          <a:xfrm>
            <a:off x="868680" y="1600200"/>
            <a:ext cx="2926080" cy="109728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Stack Overflow</a:t>
            </a:r>
            <a:endParaRPr lang="en-US" sz="1500" dirty="0"/>
          </a:p>
          <a:p>
            <a:pPr marL="0" indent="0">
              <a:buNone/>
            </a:pPr>
            <a:r>
              <a:rPr lang="en-US" sz="1100" dirty="0">
                <a:solidFill>
                  <a:srgbClr val="6A6A6A"/>
                </a:solidFill>
                <a:latin typeface="Calibri" pitchFamily="34" charset="0"/>
                <a:ea typeface="Calibri" pitchFamily="34" charset="-122"/>
                <a:cs typeface="Calibri" pitchFamily="34" charset="-120"/>
              </a:rPr>
              <a:t>country names: 21 variants mapped</a:t>
            </a:r>
            <a:endParaRPr lang="en-US" sz="1500" dirty="0"/>
          </a:p>
          <a:p>
            <a:pPr marL="0" indent="0">
              <a:buNone/>
            </a:pPr>
            <a:r>
              <a:rPr lang="en-US" sz="1100" dirty="0">
                <a:solidFill>
                  <a:srgbClr val="6A6A6A"/>
                </a:solidFill>
                <a:latin typeface="Calibri" pitchFamily="34" charset="0"/>
                <a:ea typeface="Calibri" pitchFamily="34" charset="-122"/>
                <a:cs typeface="Calibri" pitchFamily="34" charset="-120"/>
              </a:rPr>
              <a:t>('United States of America', 'Viet Nam'…)</a:t>
            </a:r>
            <a:endParaRPr lang="en-US" sz="1500" dirty="0"/>
          </a:p>
        </p:txBody>
      </p:sp>
      <p:sp>
        <p:nvSpPr>
          <p:cNvPr id="5" name="Shape 3"/>
          <p:cNvSpPr/>
          <p:nvPr/>
        </p:nvSpPr>
        <p:spPr>
          <a:xfrm>
            <a:off x="8229600" y="1463040"/>
            <a:ext cx="3291840" cy="1371600"/>
          </a:xfrm>
          <a:prstGeom prst="roundRect">
            <a:avLst>
              <a:gd name="adj" fmla="val 6667"/>
            </a:avLst>
          </a:prstGeom>
          <a:solidFill>
            <a:srgbClr val="F7F0F1"/>
          </a:solidFill>
          <a:ln/>
        </p:spPr>
        <p:txBody>
          <a:bodyPr/>
          <a:lstStyle/>
          <a:p>
            <a:endParaRPr lang="it-IT"/>
          </a:p>
        </p:txBody>
      </p:sp>
      <p:sp>
        <p:nvSpPr>
          <p:cNvPr id="6" name="Text 4"/>
          <p:cNvSpPr/>
          <p:nvPr/>
        </p:nvSpPr>
        <p:spPr>
          <a:xfrm>
            <a:off x="8458200" y="1600200"/>
            <a:ext cx="2926080" cy="109728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Cost of Living</a:t>
            </a:r>
            <a:endParaRPr lang="en-US" sz="1500" dirty="0"/>
          </a:p>
          <a:p>
            <a:pPr marL="0" indent="0">
              <a:buNone/>
            </a:pPr>
            <a:r>
              <a:rPr lang="en-US" sz="1100" dirty="0">
                <a:solidFill>
                  <a:srgbClr val="6A6A6A"/>
                </a:solidFill>
                <a:latin typeface="Calibri" pitchFamily="34" charset="0"/>
                <a:ea typeface="Calibri" pitchFamily="34" charset="-122"/>
                <a:cs typeface="Calibri" pitchFamily="34" charset="-120"/>
              </a:rPr>
              <a:t>country names: 5 variants mapped</a:t>
            </a:r>
            <a:endParaRPr lang="en-US" sz="1500" dirty="0"/>
          </a:p>
          <a:p>
            <a:pPr marL="0" indent="0">
              <a:buNone/>
            </a:pPr>
            <a:r>
              <a:rPr lang="en-US" sz="1100" dirty="0">
                <a:solidFill>
                  <a:srgbClr val="6A6A6A"/>
                </a:solidFill>
                <a:latin typeface="Calibri" pitchFamily="34" charset="0"/>
                <a:ea typeface="Calibri" pitchFamily="34" charset="-122"/>
                <a:cs typeface="Calibri" pitchFamily="34" charset="-120"/>
              </a:rPr>
              <a:t>('Hong Kong (China)', 'South Korea'…)</a:t>
            </a:r>
            <a:endParaRPr lang="en-US" sz="1500" dirty="0"/>
          </a:p>
        </p:txBody>
      </p:sp>
      <p:sp>
        <p:nvSpPr>
          <p:cNvPr id="7" name="Shape 5"/>
          <p:cNvSpPr/>
          <p:nvPr/>
        </p:nvSpPr>
        <p:spPr>
          <a:xfrm>
            <a:off x="4343400" y="1371600"/>
            <a:ext cx="3474720" cy="1554480"/>
          </a:xfrm>
          <a:prstGeom prst="roundRect">
            <a:avLst>
              <a:gd name="adj" fmla="val 5882"/>
            </a:avLst>
          </a:prstGeom>
          <a:solidFill>
            <a:srgbClr val="8C1D2F"/>
          </a:solidFill>
          <a:ln/>
        </p:spPr>
        <p:txBody>
          <a:bodyPr/>
          <a:lstStyle/>
          <a:p>
            <a:endParaRPr lang="it-IT"/>
          </a:p>
        </p:txBody>
      </p:sp>
      <p:sp>
        <p:nvSpPr>
          <p:cNvPr id="8" name="Text 6"/>
          <p:cNvSpPr/>
          <p:nvPr/>
        </p:nvSpPr>
        <p:spPr>
          <a:xfrm>
            <a:off x="4572000" y="1508760"/>
            <a:ext cx="3108960" cy="13716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ISO master</a:t>
            </a:r>
            <a:endParaRPr lang="en-US" sz="1600" dirty="0"/>
          </a:p>
          <a:p>
            <a:pPr marL="0" indent="0">
              <a:buNone/>
            </a:pPr>
            <a:r>
              <a:rPr lang="en-US" sz="1150" dirty="0">
                <a:solidFill>
                  <a:srgbClr val="F0D9DD"/>
                </a:solidFill>
                <a:latin typeface="Calibri" pitchFamily="34" charset="0"/>
                <a:ea typeface="Calibri" pitchFamily="34" charset="-122"/>
                <a:cs typeface="Calibri" pitchFamily="34" charset="-120"/>
              </a:rPr>
              <a:t>canonical key: alpha-3</a:t>
            </a:r>
            <a:endParaRPr lang="en-US" sz="1600" dirty="0"/>
          </a:p>
          <a:p>
            <a:pPr marL="0" indent="0">
              <a:buNone/>
            </a:pPr>
            <a:r>
              <a:rPr lang="en-US" sz="1150" dirty="0">
                <a:solidFill>
                  <a:srgbClr val="F0D9DD"/>
                </a:solidFill>
                <a:latin typeface="Calibri" pitchFamily="34" charset="0"/>
                <a:ea typeface="Calibri" pitchFamily="34" charset="-122"/>
                <a:cs typeface="Calibri" pitchFamily="34" charset="-120"/>
              </a:rPr>
              <a:t>all joins happen on codes, never on names</a:t>
            </a:r>
            <a:endParaRPr lang="en-US" sz="1600" dirty="0"/>
          </a:p>
        </p:txBody>
      </p:sp>
      <p:sp>
        <p:nvSpPr>
          <p:cNvPr id="9" name="Shape 7"/>
          <p:cNvSpPr/>
          <p:nvPr/>
        </p:nvSpPr>
        <p:spPr>
          <a:xfrm>
            <a:off x="3950208" y="1965960"/>
            <a:ext cx="384048" cy="365760"/>
          </a:xfrm>
          <a:prstGeom prst="rightArrow">
            <a:avLst/>
          </a:prstGeom>
          <a:solidFill>
            <a:srgbClr val="2F3C7E"/>
          </a:solidFill>
          <a:ln/>
        </p:spPr>
        <p:txBody>
          <a:bodyPr/>
          <a:lstStyle/>
          <a:p>
            <a:endParaRPr lang="it-IT"/>
          </a:p>
        </p:txBody>
      </p:sp>
      <p:sp>
        <p:nvSpPr>
          <p:cNvPr id="10" name="Shape 8"/>
          <p:cNvSpPr/>
          <p:nvPr/>
        </p:nvSpPr>
        <p:spPr>
          <a:xfrm>
            <a:off x="7827264" y="1965960"/>
            <a:ext cx="384048" cy="365760"/>
          </a:xfrm>
          <a:prstGeom prst="leftArrow">
            <a:avLst/>
          </a:prstGeom>
          <a:solidFill>
            <a:srgbClr val="2F3C7E"/>
          </a:solidFill>
          <a:ln/>
        </p:spPr>
        <p:txBody>
          <a:bodyPr/>
          <a:lstStyle/>
          <a:p>
            <a:endParaRPr lang="it-IT"/>
          </a:p>
        </p:txBody>
      </p:sp>
      <p:sp>
        <p:nvSpPr>
          <p:cNvPr id="11" name="Text 9"/>
          <p:cNvSpPr/>
          <p:nvPr/>
        </p:nvSpPr>
        <p:spPr>
          <a:xfrm>
            <a:off x="640080" y="3429000"/>
            <a:ext cx="2286000" cy="822960"/>
          </a:xfrm>
          <a:prstGeom prst="rect">
            <a:avLst/>
          </a:prstGeom>
          <a:noFill/>
          <a:ln/>
        </p:spPr>
        <p:txBody>
          <a:bodyPr wrap="square" lIns="0" tIns="0" rIns="0" bIns="0" rtlCol="0" anchor="ctr"/>
          <a:lstStyle/>
          <a:p>
            <a:pPr marL="0" indent="0">
              <a:buNone/>
            </a:pPr>
            <a:r>
              <a:rPr lang="en-US" sz="2600" b="1" dirty="0">
                <a:solidFill>
                  <a:srgbClr val="8C1D2F"/>
                </a:solidFill>
                <a:latin typeface="Cambria" pitchFamily="34" charset="0"/>
                <a:ea typeface="Cambria" pitchFamily="34" charset="-122"/>
                <a:cs typeface="Cambria" pitchFamily="34" charset="-120"/>
              </a:rPr>
              <a:t>105 / 185</a:t>
            </a:r>
            <a:endParaRPr lang="en-US" sz="2600" dirty="0"/>
          </a:p>
        </p:txBody>
      </p:sp>
      <p:sp>
        <p:nvSpPr>
          <p:cNvPr id="12" name="Text 10"/>
          <p:cNvSpPr/>
          <p:nvPr/>
        </p:nvSpPr>
        <p:spPr>
          <a:xfrm>
            <a:off x="3063240" y="3474720"/>
            <a:ext cx="8503920" cy="8229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SO names matching the cost-of-living source without cleaning </a:t>
            </a:r>
            <a:r>
              <a:rPr lang="en-US" sz="1300" dirty="0">
                <a:solidFill>
                  <a:srgbClr val="1A1A1A"/>
                </a:solidFill>
                <a:latin typeface="Calibri" pitchFamily="34" charset="0"/>
                <a:ea typeface="Calibri" pitchFamily="34" charset="-122"/>
                <a:cs typeface="Calibri" pitchFamily="34" charset="-120"/>
                <a:sym typeface="Wingdings" pitchFamily="2" charset="2"/>
              </a:rPr>
              <a:t> </a:t>
            </a:r>
            <a:r>
              <a:rPr lang="en-US" sz="1300" dirty="0">
                <a:solidFill>
                  <a:srgbClr val="1A1A1A"/>
                </a:solidFill>
                <a:latin typeface="Calibri" pitchFamily="34" charset="0"/>
                <a:ea typeface="Calibri" pitchFamily="34" charset="-122"/>
                <a:cs typeface="Calibri" pitchFamily="34" charset="-120"/>
              </a:rPr>
              <a:t> the miss list included the heaviest countries (USA: 4,677 respondents, UK: 1,391)</a:t>
            </a:r>
            <a:endParaRPr lang="en-US" sz="1300" dirty="0"/>
          </a:p>
        </p:txBody>
      </p:sp>
      <p:sp>
        <p:nvSpPr>
          <p:cNvPr id="13" name="Text 11"/>
          <p:cNvSpPr/>
          <p:nvPr/>
        </p:nvSpPr>
        <p:spPr>
          <a:xfrm>
            <a:off x="640080" y="4325112"/>
            <a:ext cx="2286000" cy="822960"/>
          </a:xfrm>
          <a:prstGeom prst="rect">
            <a:avLst/>
          </a:prstGeom>
          <a:noFill/>
          <a:ln/>
        </p:spPr>
        <p:txBody>
          <a:bodyPr wrap="square" lIns="0" tIns="0" rIns="0" bIns="0" rtlCol="0" anchor="ctr"/>
          <a:lstStyle/>
          <a:p>
            <a:pPr marL="0" indent="0">
              <a:buNone/>
            </a:pPr>
            <a:r>
              <a:rPr lang="en-US" sz="2600" b="1" dirty="0">
                <a:solidFill>
                  <a:srgbClr val="8C1D2F"/>
                </a:solidFill>
                <a:latin typeface="Cambria" pitchFamily="34" charset="0"/>
                <a:ea typeface="Cambria" pitchFamily="34" charset="-122"/>
                <a:cs typeface="Cambria" pitchFamily="34" charset="-120"/>
              </a:rPr>
              <a:t>100%</a:t>
            </a:r>
            <a:endParaRPr lang="en-US" sz="2600" dirty="0"/>
          </a:p>
        </p:txBody>
      </p:sp>
      <p:sp>
        <p:nvSpPr>
          <p:cNvPr id="14" name="Text 12"/>
          <p:cNvSpPr/>
          <p:nvPr/>
        </p:nvSpPr>
        <p:spPr>
          <a:xfrm>
            <a:off x="3063240" y="4370832"/>
            <a:ext cx="8503920" cy="8229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coverage after reconciliation: all 69 relevant countries matched, verified end-to-end (every mapping target checked, applied result re-checked)</a:t>
            </a:r>
            <a:endParaRPr lang="en-US" sz="1300" dirty="0"/>
          </a:p>
        </p:txBody>
      </p:sp>
      <p:sp>
        <p:nvSpPr>
          <p:cNvPr id="15" name="Text 13"/>
          <p:cNvSpPr/>
          <p:nvPr/>
        </p:nvSpPr>
        <p:spPr>
          <a:xfrm>
            <a:off x="640080" y="5221224"/>
            <a:ext cx="2286000" cy="822960"/>
          </a:xfrm>
          <a:prstGeom prst="rect">
            <a:avLst/>
          </a:prstGeom>
          <a:noFill/>
          <a:ln/>
        </p:spPr>
        <p:txBody>
          <a:bodyPr wrap="square" lIns="0" tIns="0" rIns="0" bIns="0" rtlCol="0" anchor="ctr"/>
          <a:lstStyle/>
          <a:p>
            <a:pPr marL="0" indent="0">
              <a:buNone/>
            </a:pPr>
            <a:r>
              <a:rPr lang="en-US" sz="2600" b="1" dirty="0">
                <a:solidFill>
                  <a:srgbClr val="8C1D2F"/>
                </a:solidFill>
                <a:latin typeface="Cambria" pitchFamily="34" charset="0"/>
                <a:ea typeface="Cambria" pitchFamily="34" charset="-122"/>
                <a:cs typeface="Cambria" pitchFamily="34" charset="-120"/>
              </a:rPr>
              <a:t>KOR ≠ PRK</a:t>
            </a:r>
            <a:endParaRPr lang="en-US" sz="2600" dirty="0"/>
          </a:p>
        </p:txBody>
      </p:sp>
      <p:sp>
        <p:nvSpPr>
          <p:cNvPr id="16" name="Text 14"/>
          <p:cNvSpPr/>
          <p:nvPr/>
        </p:nvSpPr>
        <p:spPr>
          <a:xfrm>
            <a:off x="3063240" y="5266944"/>
            <a:ext cx="8503920" cy="8229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the master itself had a bug: a row named 'South Korea' carrying North Korea's code </a:t>
            </a:r>
            <a:r>
              <a:rPr lang="en-US" sz="1300" dirty="0">
                <a:solidFill>
                  <a:srgbClr val="1A1A1A"/>
                </a:solidFill>
                <a:latin typeface="Calibri" pitchFamily="34" charset="0"/>
                <a:ea typeface="Calibri" pitchFamily="34" charset="-122"/>
                <a:cs typeface="Calibri" pitchFamily="34" charset="-120"/>
                <a:sym typeface="Wingdings" pitchFamily="2" charset="2"/>
              </a:rPr>
              <a:t> </a:t>
            </a:r>
            <a:r>
              <a:rPr lang="en-US" sz="1300" dirty="0">
                <a:solidFill>
                  <a:srgbClr val="1A1A1A"/>
                </a:solidFill>
                <a:latin typeface="Calibri" pitchFamily="34" charset="0"/>
                <a:ea typeface="Calibri" pitchFamily="34" charset="-122"/>
                <a:cs typeface="Calibri" pitchFamily="34" charset="-120"/>
              </a:rPr>
              <a:t>names fail silently in both directions, codes don't</a:t>
            </a:r>
            <a:endParaRPr lang="en-US" sz="1300" dirty="0"/>
          </a:p>
        </p:txBody>
      </p:sp>
      <p:sp>
        <p:nvSpPr>
          <p:cNvPr id="17" name="Text 15"/>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Conceptual design: the Dimensional Fact Model</a:t>
            </a:r>
            <a:endParaRPr lang="en-US" sz="3000" dirty="0"/>
          </a:p>
        </p:txBody>
      </p:sp>
      <p:pic>
        <p:nvPicPr>
          <p:cNvPr id="3" name="Image 0" descr="/sessions/gifted-beautiful-cerf/mnt/outputs/dfm.png"/>
          <p:cNvPicPr>
            <a:picLocks noChangeAspect="1"/>
          </p:cNvPicPr>
          <p:nvPr/>
        </p:nvPicPr>
        <p:blipFill>
          <a:blip r:embed="rId3"/>
          <a:stretch>
            <a:fillRect/>
          </a:stretch>
        </p:blipFill>
        <p:spPr>
          <a:xfrm>
            <a:off x="457200" y="1051560"/>
            <a:ext cx="7635240" cy="5577840"/>
          </a:xfrm>
          <a:prstGeom prst="rect">
            <a:avLst/>
          </a:prstGeom>
        </p:spPr>
      </p:pic>
      <p:sp>
        <p:nvSpPr>
          <p:cNvPr id="4" name="Text 1"/>
          <p:cNvSpPr/>
          <p:nvPr/>
        </p:nvSpPr>
        <p:spPr>
          <a:xfrm>
            <a:off x="8275320" y="1371600"/>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Grain</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one survey response: the finest available; aggregating is always possible, disaggregating never</a:t>
            </a:r>
            <a:endParaRPr lang="en-US" sz="1400" dirty="0"/>
          </a:p>
        </p:txBody>
      </p:sp>
      <p:sp>
        <p:nvSpPr>
          <p:cNvPr id="5" name="Text 2"/>
          <p:cNvSpPr/>
          <p:nvPr/>
        </p:nvSpPr>
        <p:spPr>
          <a:xfrm>
            <a:off x="8275320" y="2670048"/>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Measures (MEDIAN)</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comp_usd and derived comp_adjusted = comp_usd / (COL/100). Non-additive: never SUM</a:t>
            </a:r>
            <a:endParaRPr lang="en-US" sz="1400" dirty="0"/>
          </a:p>
        </p:txBody>
      </p:sp>
      <p:sp>
        <p:nvSpPr>
          <p:cNvPr id="6" name="Text 3"/>
          <p:cNvSpPr/>
          <p:nvPr/>
        </p:nvSpPr>
        <p:spPr>
          <a:xfrm>
            <a:off x="8275320" y="3968496"/>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Hierarchies</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country → sub-region → region: each arc a verified many-to-one functional dependency</a:t>
            </a:r>
            <a:endParaRPr lang="en-US" sz="1400" dirty="0"/>
          </a:p>
        </p:txBody>
      </p:sp>
      <p:sp>
        <p:nvSpPr>
          <p:cNvPr id="7" name="Text 4"/>
          <p:cNvSpPr/>
          <p:nvPr/>
        </p:nvSpPr>
        <p:spPr>
          <a:xfrm>
            <a:off x="8275320" y="5266944"/>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Multiple arc</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languages are many-to-many (5.3 per respondent) → bridge table, double-counting declared</a:t>
            </a:r>
            <a:endParaRPr lang="en-US" sz="1400" dirty="0"/>
          </a:p>
        </p:txBody>
      </p:sp>
      <p:sp>
        <p:nvSpPr>
          <p:cNvPr id="8" name="Text 5"/>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Logical design: star schema on PostgreSQL</a:t>
            </a:r>
            <a:endParaRPr lang="en-US" sz="3000" dirty="0"/>
          </a:p>
        </p:txBody>
      </p:sp>
      <p:pic>
        <p:nvPicPr>
          <p:cNvPr id="3" name="Image 0" descr="/sessions/gifted-beautiful-cerf/mnt/outputs/star.png"/>
          <p:cNvPicPr>
            <a:picLocks noChangeAspect="1"/>
          </p:cNvPicPr>
          <p:nvPr/>
        </p:nvPicPr>
        <p:blipFill>
          <a:blip r:embed="rId3"/>
          <a:stretch>
            <a:fillRect/>
          </a:stretch>
        </p:blipFill>
        <p:spPr>
          <a:xfrm>
            <a:off x="457200" y="1051560"/>
            <a:ext cx="7635240" cy="5623560"/>
          </a:xfrm>
          <a:prstGeom prst="rect">
            <a:avLst/>
          </a:prstGeom>
        </p:spPr>
      </p:pic>
      <p:sp>
        <p:nvSpPr>
          <p:cNvPr id="4" name="Text 1"/>
          <p:cNvSpPr/>
          <p:nvPr/>
        </p:nvSpPr>
        <p:spPr>
          <a:xfrm>
            <a:off x="8275320" y="1371600"/>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Star, not snowflake</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hierarchies denormalized in the dimension tables: redundancy is harmless in a read-only, ETL-loaded DW and queries need fewer joins</a:t>
            </a:r>
            <a:endParaRPr lang="en-US" sz="1400" dirty="0"/>
          </a:p>
        </p:txBody>
      </p:sp>
      <p:sp>
        <p:nvSpPr>
          <p:cNvPr id="5" name="Text 2"/>
          <p:cNvSpPr/>
          <p:nvPr/>
        </p:nvSpPr>
        <p:spPr>
          <a:xfrm>
            <a:off x="8275320" y="2670048"/>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Surrogate keys</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integer keys generated in ETL; natural keys (alpha-3) kept as attributes. Source-independent joins, uniform 'Unknown' member (key 0)</a:t>
            </a:r>
            <a:endParaRPr lang="en-US" sz="1400" dirty="0"/>
          </a:p>
        </p:txBody>
      </p:sp>
      <p:sp>
        <p:nvSpPr>
          <p:cNvPr id="6" name="Text 3"/>
          <p:cNvSpPr/>
          <p:nvPr/>
        </p:nvSpPr>
        <p:spPr>
          <a:xfrm>
            <a:off x="8275320" y="3968496"/>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Bridge table</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121,055 rows realize the many-to-many with languages</a:t>
            </a:r>
            <a:endParaRPr lang="en-US" sz="1400" dirty="0"/>
          </a:p>
        </p:txBody>
      </p:sp>
      <p:sp>
        <p:nvSpPr>
          <p:cNvPr id="7" name="Text 4"/>
          <p:cNvSpPr/>
          <p:nvPr/>
        </p:nvSpPr>
        <p:spPr>
          <a:xfrm>
            <a:off x="8275320" y="5266944"/>
            <a:ext cx="3429000" cy="1234440"/>
          </a:xfrm>
          <a:prstGeom prst="rect">
            <a:avLst/>
          </a:prstGeom>
          <a:noFill/>
          <a:ln/>
        </p:spPr>
        <p:txBody>
          <a:bodyPr wrap="square" lIns="0" tIns="0" rIns="0" bIns="0" rtlCol="0" anchor="ctr"/>
          <a:lstStyle/>
          <a:p>
            <a:pPr marL="0" indent="0">
              <a:buNone/>
            </a:pPr>
            <a:r>
              <a:rPr lang="en-US" sz="1400" b="1" dirty="0">
                <a:solidFill>
                  <a:srgbClr val="8C1D2F"/>
                </a:solidFill>
                <a:latin typeface="Calibri" pitchFamily="34" charset="0"/>
                <a:ea typeface="Calibri" pitchFamily="34" charset="-122"/>
                <a:cs typeface="Calibri" pitchFamily="34" charset="-120"/>
              </a:rPr>
              <a:t>Degenerate dimension</a:t>
            </a:r>
            <a:endParaRPr lang="en-US" sz="1400" dirty="0"/>
          </a:p>
          <a:p>
            <a:pPr marL="0" indent="0">
              <a:buNone/>
            </a:pPr>
            <a:r>
              <a:rPr lang="en-US" sz="1150" dirty="0">
                <a:solidFill>
                  <a:srgbClr val="1A1A1A"/>
                </a:solidFill>
                <a:latin typeface="Calibri" pitchFamily="34" charset="0"/>
                <a:ea typeface="Calibri" pitchFamily="34" charset="-122"/>
                <a:cs typeface="Calibri" pitchFamily="34" charset="-120"/>
              </a:rPr>
              <a:t>response_id kept in the fact table for lineage back to the source CSV</a:t>
            </a:r>
            <a:endParaRPr lang="en-US" sz="1400" dirty="0"/>
          </a:p>
        </p:txBody>
      </p:sp>
      <p:sp>
        <p:nvSpPr>
          <p:cNvPr id="8" name="Text 5"/>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ETL: a single idempotent Python pipeline</a:t>
            </a:r>
            <a:endParaRPr lang="en-US" sz="3000" dirty="0"/>
          </a:p>
        </p:txBody>
      </p:sp>
      <p:sp>
        <p:nvSpPr>
          <p:cNvPr id="3" name="Shape 1"/>
          <p:cNvSpPr/>
          <p:nvPr/>
        </p:nvSpPr>
        <p:spPr>
          <a:xfrm>
            <a:off x="548640" y="1371600"/>
            <a:ext cx="2606040" cy="1600200"/>
          </a:xfrm>
          <a:prstGeom prst="roundRect">
            <a:avLst>
              <a:gd name="adj" fmla="val 5714"/>
            </a:avLst>
          </a:prstGeom>
          <a:solidFill>
            <a:srgbClr val="8C1D2F"/>
          </a:solidFill>
          <a:ln/>
        </p:spPr>
        <p:txBody>
          <a:bodyPr/>
          <a:lstStyle/>
          <a:p>
            <a:endParaRPr lang="it-IT"/>
          </a:p>
        </p:txBody>
      </p:sp>
      <p:sp>
        <p:nvSpPr>
          <p:cNvPr id="4" name="Text 2"/>
          <p:cNvSpPr/>
          <p:nvPr/>
        </p:nvSpPr>
        <p:spPr>
          <a:xfrm>
            <a:off x="731520" y="1508760"/>
            <a:ext cx="2286000" cy="13716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EXTRACT</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kagglehub download</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3 sources, cached</a:t>
            </a:r>
            <a:endParaRPr lang="en-US" sz="1500" dirty="0"/>
          </a:p>
        </p:txBody>
      </p:sp>
      <p:sp>
        <p:nvSpPr>
          <p:cNvPr id="5" name="Shape 3"/>
          <p:cNvSpPr/>
          <p:nvPr/>
        </p:nvSpPr>
        <p:spPr>
          <a:xfrm>
            <a:off x="3172968" y="1965960"/>
            <a:ext cx="365760" cy="411480"/>
          </a:xfrm>
          <a:prstGeom prst="rightArrow">
            <a:avLst/>
          </a:prstGeom>
          <a:solidFill>
            <a:srgbClr val="6A6A6A"/>
          </a:solidFill>
          <a:ln/>
        </p:spPr>
        <p:txBody>
          <a:bodyPr/>
          <a:lstStyle/>
          <a:p>
            <a:endParaRPr lang="it-IT"/>
          </a:p>
        </p:txBody>
      </p:sp>
      <p:sp>
        <p:nvSpPr>
          <p:cNvPr id="6" name="Shape 4"/>
          <p:cNvSpPr/>
          <p:nvPr/>
        </p:nvSpPr>
        <p:spPr>
          <a:xfrm>
            <a:off x="3547872" y="1371600"/>
            <a:ext cx="2606040" cy="1600200"/>
          </a:xfrm>
          <a:prstGeom prst="roundRect">
            <a:avLst>
              <a:gd name="adj" fmla="val 5714"/>
            </a:avLst>
          </a:prstGeom>
          <a:solidFill>
            <a:srgbClr val="8C1D2F"/>
          </a:solidFill>
          <a:ln/>
        </p:spPr>
        <p:txBody>
          <a:bodyPr/>
          <a:lstStyle/>
          <a:p>
            <a:endParaRPr lang="it-IT"/>
          </a:p>
        </p:txBody>
      </p:sp>
      <p:sp>
        <p:nvSpPr>
          <p:cNvPr id="7" name="Text 5"/>
          <p:cNvSpPr/>
          <p:nvPr/>
        </p:nvSpPr>
        <p:spPr>
          <a:xfrm>
            <a:off x="3730752" y="1508760"/>
            <a:ext cx="2286000" cy="13716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TRANSFORM</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rules R1–R6</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mappings · banding</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derived measure</a:t>
            </a:r>
            <a:endParaRPr lang="en-US" sz="1500" dirty="0"/>
          </a:p>
        </p:txBody>
      </p:sp>
      <p:sp>
        <p:nvSpPr>
          <p:cNvPr id="8" name="Shape 6"/>
          <p:cNvSpPr/>
          <p:nvPr/>
        </p:nvSpPr>
        <p:spPr>
          <a:xfrm>
            <a:off x="6172200" y="1965960"/>
            <a:ext cx="365760" cy="411480"/>
          </a:xfrm>
          <a:prstGeom prst="rightArrow">
            <a:avLst/>
          </a:prstGeom>
          <a:solidFill>
            <a:srgbClr val="6A6A6A"/>
          </a:solidFill>
          <a:ln/>
        </p:spPr>
        <p:txBody>
          <a:bodyPr/>
          <a:lstStyle/>
          <a:p>
            <a:endParaRPr lang="it-IT"/>
          </a:p>
        </p:txBody>
      </p:sp>
      <p:sp>
        <p:nvSpPr>
          <p:cNvPr id="9" name="Shape 7"/>
          <p:cNvSpPr/>
          <p:nvPr/>
        </p:nvSpPr>
        <p:spPr>
          <a:xfrm>
            <a:off x="6547104" y="1371600"/>
            <a:ext cx="2606040" cy="1600200"/>
          </a:xfrm>
          <a:prstGeom prst="roundRect">
            <a:avLst>
              <a:gd name="adj" fmla="val 5714"/>
            </a:avLst>
          </a:prstGeom>
          <a:solidFill>
            <a:srgbClr val="8C1D2F"/>
          </a:solidFill>
          <a:ln/>
        </p:spPr>
        <p:txBody>
          <a:bodyPr/>
          <a:lstStyle/>
          <a:p>
            <a:endParaRPr lang="it-IT"/>
          </a:p>
        </p:txBody>
      </p:sp>
      <p:sp>
        <p:nvSpPr>
          <p:cNvPr id="10" name="Text 8"/>
          <p:cNvSpPr/>
          <p:nvPr/>
        </p:nvSpPr>
        <p:spPr>
          <a:xfrm>
            <a:off x="6729984" y="1508760"/>
            <a:ext cx="2286000" cy="13716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LOAD</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dimensions → facts</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 bridge (FK order)</a:t>
            </a:r>
            <a:endParaRPr lang="en-US" sz="1500" dirty="0"/>
          </a:p>
        </p:txBody>
      </p:sp>
      <p:sp>
        <p:nvSpPr>
          <p:cNvPr id="11" name="Shape 9"/>
          <p:cNvSpPr/>
          <p:nvPr/>
        </p:nvSpPr>
        <p:spPr>
          <a:xfrm>
            <a:off x="9171432" y="1965960"/>
            <a:ext cx="365760" cy="411480"/>
          </a:xfrm>
          <a:prstGeom prst="rightArrow">
            <a:avLst/>
          </a:prstGeom>
          <a:solidFill>
            <a:srgbClr val="6A6A6A"/>
          </a:solidFill>
          <a:ln/>
        </p:spPr>
        <p:txBody>
          <a:bodyPr/>
          <a:lstStyle/>
          <a:p>
            <a:endParaRPr lang="it-IT"/>
          </a:p>
        </p:txBody>
      </p:sp>
      <p:sp>
        <p:nvSpPr>
          <p:cNvPr id="12" name="Shape 10"/>
          <p:cNvSpPr/>
          <p:nvPr/>
        </p:nvSpPr>
        <p:spPr>
          <a:xfrm>
            <a:off x="9546336" y="1371600"/>
            <a:ext cx="2606040" cy="1600200"/>
          </a:xfrm>
          <a:prstGeom prst="roundRect">
            <a:avLst>
              <a:gd name="adj" fmla="val 5714"/>
            </a:avLst>
          </a:prstGeom>
          <a:solidFill>
            <a:srgbClr val="2F3C7E"/>
          </a:solidFill>
          <a:ln/>
        </p:spPr>
        <p:txBody>
          <a:bodyPr/>
          <a:lstStyle/>
          <a:p>
            <a:endParaRPr lang="it-IT"/>
          </a:p>
        </p:txBody>
      </p:sp>
      <p:sp>
        <p:nvSpPr>
          <p:cNvPr id="13" name="Text 11"/>
          <p:cNvSpPr/>
          <p:nvPr/>
        </p:nvSpPr>
        <p:spPr>
          <a:xfrm>
            <a:off x="9729216" y="1508760"/>
            <a:ext cx="2286000" cy="13716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QUALITY CHECK</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row counts · NULL audit</a:t>
            </a:r>
            <a:endParaRPr lang="en-US" sz="1500" dirty="0"/>
          </a:p>
          <a:p>
            <a:pPr marL="0" indent="0">
              <a:buNone/>
            </a:pPr>
            <a:r>
              <a:rPr lang="en-US" sz="1100" dirty="0">
                <a:solidFill>
                  <a:srgbClr val="EBD5D9"/>
                </a:solidFill>
                <a:latin typeface="Calibri" pitchFamily="34" charset="0"/>
                <a:ea typeface="Calibri" pitchFamily="34" charset="-122"/>
                <a:cs typeface="Calibri" pitchFamily="34" charset="-120"/>
              </a:rPr>
              <a:t>smoke-test query</a:t>
            </a:r>
            <a:endParaRPr lang="en-US" sz="1500" dirty="0"/>
          </a:p>
        </p:txBody>
      </p:sp>
      <p:sp>
        <p:nvSpPr>
          <p:cNvPr id="14" name="Text 12"/>
          <p:cNvSpPr/>
          <p:nvPr/>
        </p:nvSpPr>
        <p:spPr>
          <a:xfrm>
            <a:off x="640080" y="3429000"/>
            <a:ext cx="10972800" cy="9144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Idempotent by design — </a:t>
            </a:r>
            <a:r>
              <a:rPr lang="en-US" sz="1300" dirty="0">
                <a:solidFill>
                  <a:srgbClr val="6A6A6A"/>
                </a:solidFill>
                <a:latin typeface="Calibri" pitchFamily="34" charset="0"/>
                <a:ea typeface="Calibri" pitchFamily="34" charset="-122"/>
                <a:cs typeface="Calibri" pitchFamily="34" charset="-120"/>
              </a:rPr>
              <a:t>every run rebuilds the schema from scratch (DROP SCHEMA … CASCADE) </a:t>
            </a:r>
            <a:r>
              <a:rPr lang="en-US" sz="1300" dirty="0">
                <a:solidFill>
                  <a:srgbClr val="6A6A6A"/>
                </a:solidFill>
                <a:latin typeface="Calibri" pitchFamily="34" charset="0"/>
                <a:ea typeface="Calibri" pitchFamily="34" charset="-122"/>
                <a:cs typeface="Calibri" pitchFamily="34" charset="-120"/>
                <a:sym typeface="Wingdings" pitchFamily="2" charset="2"/>
              </a:rPr>
              <a:t> </a:t>
            </a:r>
            <a:r>
              <a:rPr lang="en-US" sz="1300" dirty="0">
                <a:solidFill>
                  <a:srgbClr val="6A6A6A"/>
                </a:solidFill>
                <a:latin typeface="Calibri" pitchFamily="34" charset="0"/>
                <a:ea typeface="Calibri" pitchFamily="34" charset="-122"/>
                <a:cs typeface="Calibri" pitchFamily="34" charset="-120"/>
              </a:rPr>
              <a:t>re-running N times yields the same warehouse. No manual updates, ever: the DW is non-volatile.</a:t>
            </a:r>
            <a:endParaRPr lang="en-US" sz="1400" dirty="0"/>
          </a:p>
        </p:txBody>
      </p:sp>
      <p:sp>
        <p:nvSpPr>
          <p:cNvPr id="15" name="Text 13"/>
          <p:cNvSpPr/>
          <p:nvPr/>
        </p:nvSpPr>
        <p:spPr>
          <a:xfrm>
            <a:off x="640080" y="4389120"/>
            <a:ext cx="10972800" cy="9144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Load order = referential integrity — </a:t>
            </a:r>
            <a:r>
              <a:rPr lang="en-US" sz="1300" dirty="0">
                <a:solidFill>
                  <a:srgbClr val="6A6A6A"/>
                </a:solidFill>
                <a:latin typeface="Calibri" pitchFamily="34" charset="0"/>
                <a:ea typeface="Calibri" pitchFamily="34" charset="-122"/>
                <a:cs typeface="Calibri" pitchFamily="34" charset="-120"/>
              </a:rPr>
              <a:t>dimensions first, then facts, then the bridge: every foreign key must point to an existing surrogate key. FKs are declared and enforced. ETL violations are impossible by construction.</a:t>
            </a:r>
            <a:endParaRPr lang="en-US" sz="1400" dirty="0"/>
          </a:p>
        </p:txBody>
      </p:sp>
      <p:sp>
        <p:nvSpPr>
          <p:cNvPr id="16" name="Text 14"/>
          <p:cNvSpPr/>
          <p:nvPr/>
        </p:nvSpPr>
        <p:spPr>
          <a:xfrm>
            <a:off x="640080" y="5349240"/>
            <a:ext cx="10972800" cy="9144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Every transformation is traceable — </a:t>
            </a:r>
            <a:r>
              <a:rPr lang="en-US" sz="1300" dirty="0">
                <a:solidFill>
                  <a:srgbClr val="6A6A6A"/>
                </a:solidFill>
                <a:latin typeface="Calibri" pitchFamily="34" charset="0"/>
                <a:ea typeface="Calibri" pitchFamily="34" charset="-122"/>
                <a:cs typeface="Calibri" pitchFamily="34" charset="-120"/>
              </a:rPr>
              <a:t>each code block cites the documented rule it implements (R1–R6, D1–D3, L1–L6). 22,909 facts loaded; 140 facts keep comp_adjusted NULL (countries without a cost index); kept, not deleted.</a:t>
            </a:r>
            <a:endParaRPr lang="en-US" sz="1400" dirty="0"/>
          </a:p>
        </p:txBody>
      </p:sp>
      <p:sp>
        <p:nvSpPr>
          <p:cNvPr id="17" name="Text 15"/>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answer: where salaries buy the most</a:t>
            </a:r>
            <a:endParaRPr lang="en-US" sz="3000" dirty="0"/>
          </a:p>
        </p:txBody>
      </p:sp>
      <p:pic>
        <p:nvPicPr>
          <p:cNvPr id="3" name="Image 0" descr="/sessions/gifted-beautiful-cerf/mnt/progetto data/3_presentazione_e_demo/charts/1_top15_purchasing_power.png"/>
          <p:cNvPicPr>
            <a:picLocks noChangeAspect="1"/>
          </p:cNvPicPr>
          <p:nvPr/>
        </p:nvPicPr>
        <p:blipFill>
          <a:blip r:embed="rId3"/>
          <a:stretch>
            <a:fillRect/>
          </a:stretch>
        </p:blipFill>
        <p:spPr>
          <a:xfrm>
            <a:off x="457200" y="1097280"/>
            <a:ext cx="7321731" cy="5394960"/>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199k$</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US adjusted median — first even in real terms</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Below the top, the ranking reshuffles completely: Georgia 3rd, Poland 6th </a:t>
            </a:r>
            <a:r>
              <a:rPr lang="en-US" sz="1250" dirty="0">
                <a:solidFill>
                  <a:srgbClr val="1A1A1A"/>
                </a:solidFill>
                <a:latin typeface="Calibri" pitchFamily="34" charset="0"/>
                <a:ea typeface="Calibri" pitchFamily="34" charset="-122"/>
                <a:cs typeface="Calibri" pitchFamily="34" charset="-120"/>
                <a:sym typeface="Wingdings" pitchFamily="2" charset="2"/>
              </a:rPr>
              <a:t></a:t>
            </a:r>
            <a:r>
              <a:rPr lang="en-US" sz="1250" dirty="0">
                <a:solidFill>
                  <a:srgbClr val="1A1A1A"/>
                </a:solidFill>
                <a:latin typeface="Calibri" pitchFamily="34" charset="0"/>
                <a:ea typeface="Calibri" pitchFamily="34" charset="-122"/>
                <a:cs typeface="Calibri" pitchFamily="34" charset="-120"/>
              </a:rPr>
              <a:t> ahead of Canada and the UK.</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Median, not mean: measures are non-additive and the distribution is right-skewed.</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Sample sizes always displayed (threshold n ≥ 30, rule R4).</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hidden winners</a:t>
            </a:r>
            <a:endParaRPr lang="en-US" sz="3000" dirty="0"/>
          </a:p>
        </p:txBody>
      </p:sp>
      <p:pic>
        <p:nvPicPr>
          <p:cNvPr id="3" name="Image 0" descr="/sessions/gifted-beautiful-cerf/mnt/progetto data/3_presentazione_e_demo/charts/2_rank_gains.png"/>
          <p:cNvPicPr>
            <a:picLocks noChangeAspect="1"/>
          </p:cNvPicPr>
          <p:nvPr/>
        </p:nvPicPr>
        <p:blipFill>
          <a:blip r:embed="rId3"/>
          <a:stretch>
            <a:fillRect/>
          </a:stretch>
        </p:blipFill>
        <p:spPr>
          <a:xfrm>
            <a:off x="457200" y="1097280"/>
            <a:ext cx="7589520" cy="4910866"/>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+26</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positions gained by Georgia (nominal → real rank)</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China, Argentina and Ukraine climb 25 positions each </a:t>
            </a:r>
            <a:r>
              <a:rPr lang="en-US" sz="1250" dirty="0">
                <a:solidFill>
                  <a:srgbClr val="1A1A1A"/>
                </a:solidFill>
                <a:latin typeface="Calibri" pitchFamily="34" charset="0"/>
                <a:ea typeface="Calibri" pitchFamily="34" charset="-122"/>
                <a:cs typeface="Calibri" pitchFamily="34" charset="-120"/>
                <a:sym typeface="Wingdings" pitchFamily="2" charset="2"/>
              </a:rPr>
              <a:t></a:t>
            </a:r>
            <a:r>
              <a:rPr lang="en-US" sz="1250" dirty="0">
                <a:solidFill>
                  <a:srgbClr val="1A1A1A"/>
                </a:solidFill>
                <a:latin typeface="Calibri" pitchFamily="34" charset="0"/>
                <a:ea typeface="Calibri" pitchFamily="34" charset="-122"/>
                <a:cs typeface="Calibri" pitchFamily="34" charset="-120"/>
              </a:rPr>
              <a:t> Ukraine with a rock-solid n = 1,410.</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The phenomenon is invisible in raw data: mid salaries + low cost of living beat high salaries + high costs.</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Window functions (RANK) over the same warehouse. No reload needed.</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Roll-up, stress-tested: does the geography really flip?</a:t>
            </a:r>
            <a:endParaRPr lang="en-US" sz="3000" dirty="0"/>
          </a:p>
        </p:txBody>
      </p:sp>
      <p:pic>
        <p:nvPicPr>
          <p:cNvPr id="3" name="Image 0" descr="/sessions/gifted-beautiful-cerf/mnt/progetto data/3_presentazione_e_demo/charts/3_bias_correction.png"/>
          <p:cNvPicPr>
            <a:picLocks noChangeAspect="1"/>
          </p:cNvPicPr>
          <p:nvPr/>
        </p:nvPicPr>
        <p:blipFill>
          <a:blip r:embed="rId3"/>
          <a:stretch>
            <a:fillRect/>
          </a:stretch>
        </p:blipFill>
        <p:spPr>
          <a:xfrm>
            <a:off x="457200" y="1097280"/>
            <a:ext cx="7321731" cy="5394960"/>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E &lt; W</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not "E &gt; W" as the first pass (pooled) suggested</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GROUP BY ROLLUP on the pooled fact rows said Eastern Europe overtakes the West: 113.7 k$ vs 107.8 k$ </a:t>
            </a:r>
            <a:br>
              <a:rPr lang="en-US" sz="1250" dirty="0">
                <a:solidFill>
                  <a:srgbClr val="1A1A1A"/>
                </a:solidFill>
                <a:latin typeface="Calibri" pitchFamily="34" charset="0"/>
                <a:ea typeface="Calibri" pitchFamily="34" charset="-122"/>
                <a:cs typeface="Calibri" pitchFamily="34" charset="-120"/>
              </a:rPr>
            </a:br>
            <a:r>
              <a:rPr lang="en-US" sz="1250" dirty="0">
                <a:solidFill>
                  <a:srgbClr val="1A1A1A"/>
                </a:solidFill>
                <a:latin typeface="Calibri" pitchFamily="34" charset="0"/>
                <a:ea typeface="Calibri" pitchFamily="34" charset="-122"/>
                <a:cs typeface="Calibri" pitchFamily="34" charset="-120"/>
              </a:rPr>
              <a:t>But pooling implicitly weights each country by its Stack Overflow respondent count, not by anything real.</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Re-computing with one median per country, then a median of those medians (Q9): Eastern Europe drops to 102.7 k$; Western Europe barely moves (107.8 k$, scarto ~ 0 </a:t>
            </a:r>
            <a:r>
              <a:rPr lang="en-US" sz="1250" dirty="0">
                <a:solidFill>
                  <a:srgbClr val="1A1A1A"/>
                </a:solidFill>
                <a:latin typeface="Calibri" pitchFamily="34" charset="0"/>
                <a:ea typeface="Calibri" pitchFamily="34" charset="-122"/>
                <a:cs typeface="Calibri" pitchFamily="34" charset="-120"/>
                <a:sym typeface="Wingdings" pitchFamily="2" charset="2"/>
              </a:rPr>
              <a:t></a:t>
            </a:r>
            <a:r>
              <a:rPr lang="en-US" sz="1250" dirty="0">
                <a:solidFill>
                  <a:srgbClr val="1A1A1A"/>
                </a:solidFill>
                <a:latin typeface="Calibri" pitchFamily="34" charset="0"/>
                <a:ea typeface="Calibri" pitchFamily="34" charset="-122"/>
                <a:cs typeface="Calibri" pitchFamily="34" charset="-120"/>
              </a:rPr>
              <a:t> its 6 countries have comparable samples, so pooling doesn't distort it there).</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Same direction at world level: pooled median 120.7 k$ falls to 102.2 k$ equally weighted. Both queries stay in the workload, documented; they answer different questions, and only one supports the headline we almost wrote.</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Experience pays with very different slopes</a:t>
            </a:r>
            <a:endParaRPr lang="en-US" sz="3000" dirty="0"/>
          </a:p>
        </p:txBody>
      </p:sp>
      <p:pic>
        <p:nvPicPr>
          <p:cNvPr id="3" name="Image 0" descr="/sessions/gifted-beautiful-cerf/mnt/progetto data/3_presentazione_e_demo/charts/4_experience_heatmap.png"/>
          <p:cNvPicPr>
            <a:picLocks noChangeAspect="1"/>
          </p:cNvPicPr>
          <p:nvPr/>
        </p:nvPicPr>
        <p:blipFill>
          <a:blip r:embed="rId3"/>
          <a:stretch>
            <a:fillRect/>
          </a:stretch>
        </p:blipFill>
        <p:spPr>
          <a:xfrm>
            <a:off x="457200" y="1097280"/>
            <a:ext cx="7589520" cy="4464424"/>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9×</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junior → expert multiplier in Africa (18k → 163k)</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The seniority gradient exists everywhere, but emerging markets reward experience far more: Asia ~5.5×, Americas ~2.2×.</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Expert medians in Asia (170.8k) and Africa (163.2k) approach the Americas.</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Dice on two dimensions: experience band × region.</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remote-work multiplier</a:t>
            </a:r>
            <a:endParaRPr lang="en-US" sz="3000" dirty="0"/>
          </a:p>
        </p:txBody>
      </p:sp>
      <p:pic>
        <p:nvPicPr>
          <p:cNvPr id="3" name="Image 0" descr="/sessions/gifted-beautiful-cerf/mnt/progetto data/3_presentazione_e_demo/charts/5_remote_premium.png"/>
          <p:cNvPicPr>
            <a:picLocks noChangeAspect="1"/>
          </p:cNvPicPr>
          <p:nvPr/>
        </p:nvPicPr>
        <p:blipFill>
          <a:blip r:embed="rId3"/>
          <a:stretch>
            <a:fillRect/>
          </a:stretch>
        </p:blipFill>
        <p:spPr>
          <a:xfrm>
            <a:off x="457200" y="1097280"/>
            <a:ext cx="7589520" cy="4638040"/>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+134%</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remote premium on real purchasing power in Africa</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Remote work decouples the salary from the local market but not from the local cost of living.</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The premium grows where costs are lowest: +57% Americas, +95% Asia, +134% Africa.</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Conditional aggregates side by side (FILTER clause).</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Through the bridge: language premiums</a:t>
            </a:r>
            <a:endParaRPr lang="en-US" sz="3000" dirty="0"/>
          </a:p>
        </p:txBody>
      </p:sp>
      <p:pic>
        <p:nvPicPr>
          <p:cNvPr id="3" name="Image 0" descr="/sessions/gifted-beautiful-cerf/mnt/progetto data/3_presentazione_e_demo/charts/6_language_premium.png"/>
          <p:cNvPicPr>
            <a:picLocks noChangeAspect="1"/>
          </p:cNvPicPr>
          <p:nvPr/>
        </p:nvPicPr>
        <p:blipFill>
          <a:blip r:embed="rId3"/>
          <a:stretch>
            <a:fillRect/>
          </a:stretch>
        </p:blipFill>
        <p:spPr>
          <a:xfrm>
            <a:off x="457200" y="1097280"/>
            <a:ext cx="7589520" cy="4910866"/>
          </a:xfrm>
          <a:prstGeom prst="rect">
            <a:avLst/>
          </a:prstGeom>
        </p:spPr>
      </p:pic>
      <p:sp>
        <p:nvSpPr>
          <p:cNvPr id="4" name="Text 1"/>
          <p:cNvSpPr/>
          <p:nvPr/>
        </p:nvSpPr>
        <p:spPr>
          <a:xfrm>
            <a:off x="8229600" y="1463040"/>
            <a:ext cx="3474720" cy="1051560"/>
          </a:xfrm>
          <a:prstGeom prst="rect">
            <a:avLst/>
          </a:prstGeom>
          <a:noFill/>
          <a:ln/>
        </p:spPr>
        <p:txBody>
          <a:bodyPr wrap="square" lIns="0" tIns="0" rIns="0" bIns="0" rtlCol="0" anchor="ctr"/>
          <a:lstStyle/>
          <a:p>
            <a:pPr marL="0" indent="0">
              <a:buNone/>
            </a:pPr>
            <a:r>
              <a:rPr lang="en-US" sz="5400" b="1" dirty="0">
                <a:solidFill>
                  <a:srgbClr val="8C1D2F"/>
                </a:solidFill>
                <a:latin typeface="Cambria" pitchFamily="34" charset="0"/>
                <a:ea typeface="Cambria" pitchFamily="34" charset="-122"/>
                <a:cs typeface="Cambria" pitchFamily="34" charset="-120"/>
              </a:rPr>
              <a:t>5.28</a:t>
            </a:r>
            <a:endParaRPr lang="en-US" sz="5400" dirty="0"/>
          </a:p>
        </p:txBody>
      </p:sp>
      <p:sp>
        <p:nvSpPr>
          <p:cNvPr id="5" name="Text 2"/>
          <p:cNvSpPr/>
          <p:nvPr/>
        </p:nvSpPr>
        <p:spPr>
          <a:xfrm>
            <a:off x="8229600" y="2514600"/>
            <a:ext cx="3383280" cy="685800"/>
          </a:xfrm>
          <a:prstGeom prst="rect">
            <a:avLst/>
          </a:prstGeom>
          <a:noFill/>
          <a:ln/>
        </p:spPr>
        <p:txBody>
          <a:bodyPr wrap="square" lIns="0" tIns="0" rIns="0" bIns="0" rtlCol="0" anchor="ctr"/>
          <a:lstStyle/>
          <a:p>
            <a:pPr marL="0" indent="0">
              <a:buNone/>
            </a:pPr>
            <a:r>
              <a:rPr lang="en-US" sz="1300" b="1" dirty="0">
                <a:solidFill>
                  <a:srgbClr val="2F3C7E"/>
                </a:solidFill>
                <a:latin typeface="Calibri" pitchFamily="34" charset="0"/>
                <a:ea typeface="Calibri" pitchFamily="34" charset="-122"/>
                <a:cs typeface="Calibri" pitchFamily="34" charset="-120"/>
              </a:rPr>
              <a:t>languages per respondent </a:t>
            </a:r>
            <a:r>
              <a:rPr lang="en-US" sz="1300" b="1" dirty="0">
                <a:solidFill>
                  <a:srgbClr val="2F3C7E"/>
                </a:solidFill>
                <a:latin typeface="Calibri" pitchFamily="34" charset="0"/>
                <a:ea typeface="Calibri" pitchFamily="34" charset="-122"/>
                <a:cs typeface="Calibri" pitchFamily="34" charset="-120"/>
                <a:sym typeface="Wingdings" pitchFamily="2" charset="2"/>
              </a:rPr>
              <a:t> </a:t>
            </a:r>
            <a:r>
              <a:rPr lang="en-US" sz="1300" b="1" dirty="0">
                <a:solidFill>
                  <a:srgbClr val="2F3C7E"/>
                </a:solidFill>
                <a:latin typeface="Calibri" pitchFamily="34" charset="0"/>
                <a:ea typeface="Calibri" pitchFamily="34" charset="-122"/>
                <a:cs typeface="Calibri" pitchFamily="34" charset="-120"/>
              </a:rPr>
              <a:t>the many-to-many the bridge resolves</a:t>
            </a:r>
            <a:endParaRPr lang="en-US" sz="1300" dirty="0"/>
          </a:p>
        </p:txBody>
      </p:sp>
      <p:sp>
        <p:nvSpPr>
          <p:cNvPr id="6" name="Text 3"/>
          <p:cNvSpPr/>
          <p:nvPr/>
        </p:nvSpPr>
        <p:spPr>
          <a:xfrm>
            <a:off x="8229600" y="3291840"/>
            <a:ext cx="3429000" cy="3108960"/>
          </a:xfrm>
          <a:prstGeom prst="rect">
            <a:avLst/>
          </a:prstGeom>
          <a:noFill/>
          <a:ln/>
        </p:spPr>
        <p:txBody>
          <a:bodyPr wrap="square" lIns="0" tIns="0" rIns="0" bIns="0" rtlCol="0" anchor="ctr"/>
          <a:lstStyle/>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Niche and functional languages top the ranking (Erlang, Elixir, Clojure): a rarity/seniority premium, not causation.</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Double-counting guard: each respondent contributes to every language they use; medians per group are legitimate, sums across groups are not.</a:t>
            </a:r>
            <a:endParaRPr lang="en-US" sz="1250" dirty="0"/>
          </a:p>
          <a:p>
            <a:pPr marL="0" indent="0">
              <a:spcAft>
                <a:spcPts val="1000"/>
              </a:spcAft>
              <a:buNone/>
            </a:pPr>
            <a:r>
              <a:rPr lang="en-US" sz="1250" dirty="0">
                <a:solidFill>
                  <a:srgbClr val="1A1A1A"/>
                </a:solidFill>
                <a:latin typeface="Calibri" pitchFamily="34" charset="0"/>
                <a:ea typeface="Calibri" pitchFamily="34" charset="-122"/>
                <a:cs typeface="Calibri" pitchFamily="34" charset="-120"/>
              </a:rPr>
              <a:t>121,055 bridge rows queried through two joins.</a:t>
            </a:r>
            <a:endParaRPr lang="en-US" sz="1250" dirty="0"/>
          </a:p>
        </p:txBody>
      </p:sp>
      <p:sp>
        <p:nvSpPr>
          <p:cNvPr id="7" name="Text 4"/>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we would not claim — declared limitations</a:t>
            </a:r>
            <a:endParaRPr lang="en-US" sz="3000" dirty="0"/>
          </a:p>
        </p:txBody>
      </p:sp>
      <p:sp>
        <p:nvSpPr>
          <p:cNvPr id="3" name="Shape 1"/>
          <p:cNvSpPr/>
          <p:nvPr/>
        </p:nvSpPr>
        <p:spPr>
          <a:xfrm>
            <a:off x="640080" y="1714500"/>
            <a:ext cx="502920" cy="502920"/>
          </a:xfrm>
          <a:prstGeom prst="ellipse">
            <a:avLst/>
          </a:prstGeom>
          <a:solidFill>
            <a:srgbClr val="2F3C7E"/>
          </a:solidFill>
          <a:ln/>
        </p:spPr>
        <p:txBody>
          <a:bodyPr/>
          <a:lstStyle/>
          <a:p>
            <a:endParaRPr lang="it-IT"/>
          </a:p>
        </p:txBody>
      </p:sp>
      <p:sp>
        <p:nvSpPr>
          <p:cNvPr id="4" name="Text 2"/>
          <p:cNvSpPr/>
          <p:nvPr/>
        </p:nvSpPr>
        <p:spPr>
          <a:xfrm>
            <a:off x="640080" y="17145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417320" y="1463040"/>
            <a:ext cx="10149840" cy="10058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Self-reported data</a:t>
            </a:r>
            <a:endParaRPr lang="en-US" sz="1600" dirty="0"/>
          </a:p>
          <a:p>
            <a:pPr marL="0" indent="0">
              <a:buNone/>
            </a:pPr>
            <a:r>
              <a:rPr lang="en-US" sz="1300" dirty="0">
                <a:solidFill>
                  <a:srgbClr val="6A6A6A"/>
                </a:solidFill>
                <a:latin typeface="Calibri" pitchFamily="34" charset="0"/>
                <a:ea typeface="Calibri" pitchFamily="34" charset="-122"/>
                <a:cs typeface="Calibri" pitchFamily="34" charset="-120"/>
              </a:rPr>
              <a:t>salaries are respondent-declared; mitigated by percentile trimming (R2), not eliminated</a:t>
            </a:r>
            <a:endParaRPr lang="en-US" sz="1600" dirty="0"/>
          </a:p>
        </p:txBody>
      </p:sp>
      <p:sp>
        <p:nvSpPr>
          <p:cNvPr id="6" name="Shape 4"/>
          <p:cNvSpPr/>
          <p:nvPr/>
        </p:nvSpPr>
        <p:spPr>
          <a:xfrm>
            <a:off x="640080" y="2948940"/>
            <a:ext cx="502920" cy="502920"/>
          </a:xfrm>
          <a:prstGeom prst="ellipse">
            <a:avLst/>
          </a:prstGeom>
          <a:solidFill>
            <a:srgbClr val="2F3C7E"/>
          </a:solidFill>
          <a:ln/>
        </p:spPr>
        <p:txBody>
          <a:bodyPr/>
          <a:lstStyle/>
          <a:p>
            <a:endParaRPr lang="it-IT"/>
          </a:p>
        </p:txBody>
      </p:sp>
      <p:sp>
        <p:nvSpPr>
          <p:cNvPr id="7" name="Text 5"/>
          <p:cNvSpPr/>
          <p:nvPr/>
        </p:nvSpPr>
        <p:spPr>
          <a:xfrm>
            <a:off x="640080" y="29489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p:nvPr/>
        </p:nvSpPr>
        <p:spPr>
          <a:xfrm>
            <a:off x="1417320" y="2697480"/>
            <a:ext cx="10149840" cy="10058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Small samples at the top</a:t>
            </a:r>
            <a:endParaRPr lang="en-US" sz="1600" dirty="0"/>
          </a:p>
          <a:p>
            <a:pPr marL="0" indent="0">
              <a:buNone/>
            </a:pPr>
            <a:r>
              <a:rPr lang="en-US" sz="1300" dirty="0">
                <a:solidFill>
                  <a:srgbClr val="6A6A6A"/>
                </a:solidFill>
                <a:latin typeface="Calibri" pitchFamily="34" charset="0"/>
                <a:ea typeface="Calibri" pitchFamily="34" charset="-122"/>
                <a:cs typeface="Calibri" pitchFamily="34" charset="-120"/>
              </a:rPr>
              <a:t>Georgia n=46, Uruguay n=37: above threshold, still fragile </a:t>
            </a:r>
            <a:r>
              <a:rPr lang="en-US" sz="1300" dirty="0">
                <a:solidFill>
                  <a:srgbClr val="6A6A6A"/>
                </a:solidFill>
                <a:latin typeface="Calibri" pitchFamily="34" charset="0"/>
                <a:ea typeface="Calibri" pitchFamily="34" charset="-122"/>
                <a:cs typeface="Calibri" pitchFamily="34" charset="-120"/>
                <a:sym typeface="Wingdings" pitchFamily="2" charset="2"/>
              </a:rPr>
              <a:t> </a:t>
            </a:r>
            <a:r>
              <a:rPr lang="en-US" sz="1300" dirty="0">
                <a:solidFill>
                  <a:srgbClr val="6A6A6A"/>
                </a:solidFill>
                <a:latin typeface="Calibri" pitchFamily="34" charset="0"/>
                <a:ea typeface="Calibri" pitchFamily="34" charset="-122"/>
                <a:cs typeface="Calibri" pitchFamily="34" charset="-120"/>
              </a:rPr>
              <a:t> the pattern is confirmed by large samples (Poland 581, Ukraine 1,410)</a:t>
            </a:r>
            <a:endParaRPr lang="en-US" sz="1600" dirty="0"/>
          </a:p>
        </p:txBody>
      </p:sp>
      <p:sp>
        <p:nvSpPr>
          <p:cNvPr id="9" name="Shape 7"/>
          <p:cNvSpPr/>
          <p:nvPr/>
        </p:nvSpPr>
        <p:spPr>
          <a:xfrm>
            <a:off x="640080" y="4183380"/>
            <a:ext cx="502920" cy="502920"/>
          </a:xfrm>
          <a:prstGeom prst="ellipse">
            <a:avLst/>
          </a:prstGeom>
          <a:solidFill>
            <a:srgbClr val="2F3C7E"/>
          </a:solidFill>
          <a:ln/>
        </p:spPr>
        <p:txBody>
          <a:bodyPr/>
          <a:lstStyle/>
          <a:p>
            <a:endParaRPr lang="it-IT"/>
          </a:p>
        </p:txBody>
      </p:sp>
      <p:sp>
        <p:nvSpPr>
          <p:cNvPr id="10" name="Text 8"/>
          <p:cNvSpPr/>
          <p:nvPr/>
        </p:nvSpPr>
        <p:spPr>
          <a:xfrm>
            <a:off x="640080" y="41833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p:nvPr/>
        </p:nvSpPr>
        <p:spPr>
          <a:xfrm>
            <a:off x="1417320" y="3931920"/>
            <a:ext cx="10149840" cy="10058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Country-grain indices</a:t>
            </a:r>
            <a:endParaRPr lang="en-US" sz="1600" dirty="0"/>
          </a:p>
          <a:p>
            <a:pPr marL="0" indent="0">
              <a:buNone/>
            </a:pPr>
            <a:r>
              <a:rPr lang="en-US" sz="1300" dirty="0">
                <a:solidFill>
                  <a:srgbClr val="6A6A6A"/>
                </a:solidFill>
                <a:latin typeface="Calibri" pitchFamily="34" charset="0"/>
                <a:ea typeface="Calibri" pitchFamily="34" charset="-122"/>
                <a:cs typeface="Calibri" pitchFamily="34" charset="-120"/>
              </a:rPr>
              <a:t>cost of living is national: Tbilisi ≠ the Georgian average, San Francisco ≠ the US average</a:t>
            </a:r>
            <a:endParaRPr lang="en-US" sz="1600" dirty="0"/>
          </a:p>
        </p:txBody>
      </p:sp>
      <p:sp>
        <p:nvSpPr>
          <p:cNvPr id="12" name="Shape 10"/>
          <p:cNvSpPr/>
          <p:nvPr/>
        </p:nvSpPr>
        <p:spPr>
          <a:xfrm>
            <a:off x="640080" y="5417820"/>
            <a:ext cx="502920" cy="502920"/>
          </a:xfrm>
          <a:prstGeom prst="ellipse">
            <a:avLst/>
          </a:prstGeom>
          <a:solidFill>
            <a:srgbClr val="2F3C7E"/>
          </a:solidFill>
          <a:ln/>
        </p:spPr>
        <p:txBody>
          <a:bodyPr/>
          <a:lstStyle/>
          <a:p>
            <a:endParaRPr lang="it-IT"/>
          </a:p>
        </p:txBody>
      </p:sp>
      <p:sp>
        <p:nvSpPr>
          <p:cNvPr id="13" name="Text 11"/>
          <p:cNvSpPr/>
          <p:nvPr/>
        </p:nvSpPr>
        <p:spPr>
          <a:xfrm>
            <a:off x="640080" y="54178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p:nvPr/>
        </p:nvSpPr>
        <p:spPr>
          <a:xfrm>
            <a:off x="1417320" y="5166360"/>
            <a:ext cx="10149840" cy="10058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A 2024 snapshot</a:t>
            </a:r>
            <a:endParaRPr lang="en-US" sz="1600" dirty="0"/>
          </a:p>
          <a:p>
            <a:pPr marL="0" indent="0">
              <a:buNone/>
            </a:pPr>
            <a:r>
              <a:rPr lang="en-US" sz="1300" dirty="0">
                <a:solidFill>
                  <a:srgbClr val="6A6A6A"/>
                </a:solidFill>
                <a:latin typeface="Calibri" pitchFamily="34" charset="0"/>
                <a:ea typeface="Calibri" pitchFamily="34" charset="-122"/>
                <a:cs typeface="Calibri" pitchFamily="34" charset="-120"/>
              </a:rPr>
              <a:t>all sources are single-year: cross-country comparison, deliberately no time dimension</a:t>
            </a:r>
            <a:endParaRPr lang="en-US" sz="1600" dirty="0"/>
          </a:p>
        </p:txBody>
      </p:sp>
      <p:sp>
        <p:nvSpPr>
          <p:cNvPr id="15" name="Text 13"/>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6A6A6A"/>
                </a:solidFill>
                <a:latin typeface="Calibri" pitchFamily="34" charset="0"/>
                <a:ea typeface="Calibri" pitchFamily="34" charset="-122"/>
                <a:cs typeface="Calibri" pitchFamily="34" charset="-120"/>
              </a:rPr>
              <a:t>The Purchasing Power of the Tech Worker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C1119"/>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Conclusions</a:t>
            </a:r>
            <a:endParaRPr lang="en-US" sz="4000" dirty="0"/>
          </a:p>
        </p:txBody>
      </p:sp>
      <p:sp>
        <p:nvSpPr>
          <p:cNvPr id="3" name="Text 1"/>
          <p:cNvSpPr/>
          <p:nvPr/>
        </p:nvSpPr>
        <p:spPr>
          <a:xfrm>
            <a:off x="822960" y="1737360"/>
            <a:ext cx="10424160" cy="1051560"/>
          </a:xfrm>
          <a:prstGeom prst="rect">
            <a:avLst/>
          </a:prstGeom>
          <a:noFill/>
          <a:ln/>
        </p:spPr>
        <p:txBody>
          <a:bodyPr wrap="square" lIns="0" tIns="0" rIns="0" bIns="0" rtlCol="0" anchor="ctr"/>
          <a:lstStyle/>
          <a:p>
            <a:pPr marL="0" indent="0">
              <a:buNone/>
            </a:pPr>
            <a:r>
              <a:rPr lang="en-US" sz="1700" dirty="0">
                <a:solidFill>
                  <a:srgbClr val="F3E2E5"/>
                </a:solidFill>
                <a:latin typeface="Calibri" pitchFamily="34" charset="0"/>
                <a:ea typeface="Calibri" pitchFamily="34" charset="-122"/>
                <a:cs typeface="Calibri" pitchFamily="34" charset="-120"/>
              </a:rPr>
              <a:t>Cost of living redraws the geography of tech work, but headline regional claims can be artifacts of how you aggregate; remote work is the one multiplier that holds up under every weighting we tried.</a:t>
            </a:r>
            <a:endParaRPr lang="en-US" sz="1700" dirty="0"/>
          </a:p>
        </p:txBody>
      </p:sp>
      <p:sp>
        <p:nvSpPr>
          <p:cNvPr id="4" name="Text 2"/>
          <p:cNvSpPr/>
          <p:nvPr/>
        </p:nvSpPr>
        <p:spPr>
          <a:xfrm>
            <a:off x="822960" y="2880360"/>
            <a:ext cx="10424160" cy="1051560"/>
          </a:xfrm>
          <a:prstGeom prst="rect">
            <a:avLst/>
          </a:prstGeom>
          <a:noFill/>
          <a:ln/>
        </p:spPr>
        <p:txBody>
          <a:bodyPr wrap="square" lIns="0" tIns="0" rIns="0" bIns="0" rtlCol="0" anchor="ctr"/>
          <a:lstStyle/>
          <a:p>
            <a:pPr marL="0" indent="0">
              <a:buNone/>
            </a:pPr>
            <a:r>
              <a:rPr lang="en-US" sz="1700" dirty="0">
                <a:solidFill>
                  <a:srgbClr val="F3E2E5"/>
                </a:solidFill>
                <a:latin typeface="Calibri" pitchFamily="34" charset="0"/>
                <a:ea typeface="Calibri" pitchFamily="34" charset="-122"/>
                <a:cs typeface="Calibri" pitchFamily="34" charset="-120"/>
              </a:rPr>
              <a:t>Three sources that never met became one consistent star schema </a:t>
            </a:r>
            <a:r>
              <a:rPr lang="en-US" sz="1700" dirty="0">
                <a:solidFill>
                  <a:srgbClr val="F3E2E5"/>
                </a:solidFill>
                <a:latin typeface="Calibri" pitchFamily="34" charset="0"/>
                <a:ea typeface="Calibri" pitchFamily="34" charset="-122"/>
                <a:cs typeface="Calibri" pitchFamily="34" charset="-120"/>
                <a:sym typeface="Wingdings" pitchFamily="2" charset="2"/>
              </a:rPr>
              <a:t> </a:t>
            </a:r>
            <a:r>
              <a:rPr lang="en-US" sz="1700" dirty="0">
                <a:solidFill>
                  <a:srgbClr val="F3E2E5"/>
                </a:solidFill>
                <a:latin typeface="Calibri" pitchFamily="34" charset="0"/>
                <a:ea typeface="Calibri" pitchFamily="34" charset="-122"/>
                <a:cs typeface="Calibri" pitchFamily="34" charset="-120"/>
              </a:rPr>
              <a:t>reconciled on ISO codes, cleaned by six documented rules, loaded by one idempotent pipeline.</a:t>
            </a:r>
            <a:endParaRPr lang="en-US" sz="1700" dirty="0"/>
          </a:p>
        </p:txBody>
      </p:sp>
      <p:sp>
        <p:nvSpPr>
          <p:cNvPr id="5" name="Text 3"/>
          <p:cNvSpPr/>
          <p:nvPr/>
        </p:nvSpPr>
        <p:spPr>
          <a:xfrm>
            <a:off x="822960" y="4023360"/>
            <a:ext cx="10424160" cy="1051560"/>
          </a:xfrm>
          <a:prstGeom prst="rect">
            <a:avLst/>
          </a:prstGeom>
          <a:noFill/>
          <a:ln/>
        </p:spPr>
        <p:txBody>
          <a:bodyPr wrap="square" lIns="0" tIns="0" rIns="0" bIns="0" rtlCol="0" anchor="ctr"/>
          <a:lstStyle/>
          <a:p>
            <a:pPr marL="0" indent="0">
              <a:buNone/>
            </a:pPr>
            <a:r>
              <a:rPr lang="en-US" sz="1700" dirty="0">
                <a:solidFill>
                  <a:srgbClr val="F3E2E5"/>
                </a:solidFill>
                <a:latin typeface="Calibri" pitchFamily="34" charset="0"/>
                <a:ea typeface="Calibri" pitchFamily="34" charset="-122"/>
                <a:cs typeface="Calibri" pitchFamily="34" charset="-120"/>
              </a:rPr>
              <a:t>Every number in this deck is one SQL query away, as the live demo is about to show.</a:t>
            </a:r>
            <a:endParaRPr lang="en-US" sz="1700" dirty="0"/>
          </a:p>
        </p:txBody>
      </p:sp>
      <p:sp>
        <p:nvSpPr>
          <p:cNvPr id="6" name="Shape 4"/>
          <p:cNvSpPr/>
          <p:nvPr/>
        </p:nvSpPr>
        <p:spPr>
          <a:xfrm>
            <a:off x="822960" y="5349240"/>
            <a:ext cx="10424160" cy="914400"/>
          </a:xfrm>
          <a:prstGeom prst="roundRect">
            <a:avLst>
              <a:gd name="adj" fmla="val 10000"/>
            </a:avLst>
          </a:prstGeom>
          <a:solidFill>
            <a:srgbClr val="8C1D2F"/>
          </a:solidFill>
          <a:ln/>
        </p:spPr>
        <p:txBody>
          <a:bodyPr/>
          <a:lstStyle/>
          <a:p>
            <a:endParaRPr lang="it-IT"/>
          </a:p>
        </p:txBody>
      </p:sp>
      <p:sp>
        <p:nvSpPr>
          <p:cNvPr id="7" name="Text 5"/>
          <p:cNvSpPr/>
          <p:nvPr/>
        </p:nvSpPr>
        <p:spPr>
          <a:xfrm>
            <a:off x="1097280" y="5349240"/>
            <a:ext cx="9875520" cy="9144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Live demo: the warehouse answering in real time  (5 minutes)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1185</TotalTime>
  <Words>2421</Words>
  <Application>Microsoft Macintosh PowerPoint</Application>
  <PresentationFormat>Widescreen</PresentationFormat>
  <Paragraphs>208</Paragraphs>
  <Slides>16</Slides>
  <Notes>16</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16</vt:i4>
      </vt:variant>
    </vt:vector>
  </HeadingPairs>
  <TitlesOfParts>
    <vt:vector size="20" baseType="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Emanuele Smisi</cp:lastModifiedBy>
  <cp:revision>2</cp:revision>
  <dcterms:created xsi:type="dcterms:W3CDTF">2026-09-08T14:36:58Z</dcterms:created>
  <dcterms:modified xsi:type="dcterms:W3CDTF">2026-09-09T10:26:07Z</dcterms:modified>
</cp:coreProperties>
</file>