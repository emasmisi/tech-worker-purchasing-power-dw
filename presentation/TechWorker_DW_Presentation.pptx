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yourselves. One sentence: we built a data warehouse that answers where a tech salary actually buys the most, integrating survey, geographic and cost-of-living data. Agenda implicit: sources, design, ETL, results,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Motivation: comparing tech salaries across countries is meaningless in nominal terms. Our DW adjusts by cost of living. The three numbers: raw volume, sources, final analyzable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per source. Stress the ROLES: facts / canonical geographic master / context. The master exists because country names are fragile join keys — next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Profiling found: implausible self-reported salaries (trim), a heavy-null dimension (Unknown member), and an error inside the geographic master itself (Korea). R4 is a principle: the warehouse never loses information; analytical thresholds live in queries. Median 65k vs mean 86k also motivated median aggregation.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Names are the only shared attribute across the three sources — but they are fragile keys. Strategy: converge both sources onto the ISO master once, then join on alpha-3. Tell the Korea story: it proves even the master must be validated. False negatives (Viet Nam vs Vietnam) AND false positives (South Korea/PRK).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DFM in official Golfarelli-Rizzi notation: circles = dimensional attributes, underlined = descriptive attributes (ISO code and Numbeo indices on country), (MEDIAN) = aggregation operator declaring non-additivity, double line = multiple arc. Decision D1: indices at country grain live as descriptive attributes; the adjusted measure is pre-computed in ETL.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Fact table ~23k rows with FKs to 10 dimensions + two measures; 12 tables total. Why star: normalization protects against update anomalies, which cannot occur in a warehouse written only by controlled ETL — so we trade harmless redundancy for simpler, faster queries.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stages. Idempotence: rule of reproducibility. Load order: FK integrity. If asked what breaks loading facts first: FK violations — the DDL makes wrong ETL impossible. QC prints expected counts and a smoke-test ranking straight after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Q1, percentile_cont with HAVING n&gt;=30. The US stays first, but everything below changes vs the nominal ranking. Georgia n=46: above threshold yet flagged — honesty scores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Q2, RANK() OVER on nominal vs adjusted medians. This is 'the phenomenon not explicitly evident from the data' the project brief asks for. Ukraine's n makes it statistically strong.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critical-thinking moment, not just a SQL trick: we drafted a claim from Q3/ROLLUP, then designed Q9 specifically to stress-test it — and it failed. Western Europe's scarto ~ 0 is the control case: it proves the effect is a real sampling artifact, not a query bug, since a sub-region with balanced country samples is untouched. If asked why not just switch to equal-weighting everywhere: the two methods answer different questions — 'what does the typical respondent see' (pooled) vs 'what does the typical country look like' (equal-weighted) — and we kept both, documented, rather than picking the one that made the better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Q4. The banding (Junior/Mid/Senior/Expert) is a designed hierarchy over YearsCodePro — thresholds documented, changeable without touching facts. Steepest slopes in emerging markets.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Q6, FILTER conditional medians. This is the mechanism behind the hidden winners: remote pay + low local costs. Tie back to slide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Q7. Declare the double-counting rule before anyone asks. And say 'correlation, not causation' about Erlang — it defuses the obvious objection.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limitations before being asked — it demonstrates critical awareness. Each one has a mitigation: trimming, thresholds + large-sample confirmation, explicit caveat, deliberate design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in under 30 seconds and hand over to the demo: 'let us show you the warehouse answering live'. The demo script takes over from here (D1→D5).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C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Purchasing Power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the Tech Worker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2296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8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Warehousing project — from three heterogeneous sources to OLAP answers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51206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Emanuele Smisi  ·  Fabrizio Pietrobono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E8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Management A.Y. 2025/26 — Sapienza University of Rome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question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a tech salary buy the most?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nominal salary is a misleading signal: 60,000 $ in Zurich and in Buenos Aires are two different lives. To compare countries fairly, salaries must be adjusted for the local cost of living — and that requires integrating data nobody publishes together.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338328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7F0F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65,437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005840" y="4709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responses collected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(Stack Overflow 2024)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338328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7F0F1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4754880" y="4709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sources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via ETL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321040" y="338328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7F0F1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8503920" y="4709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with statistically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samples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sources, three roles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F7F0F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630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Overflow Survey 2024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the facts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3154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65,437 responses × 114 columns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Grain: one respondent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Measure: ConvertedCompYearly (USD)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attributes → dimensions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23444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F7F0F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14630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Country Mapping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0" y="2286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— the canonical key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0" y="2743200"/>
            <a:ext cx="3154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countries, ISO alpha-3 codes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Grain: one country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Hierarchy: country → sub-region → region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for all name reconciliation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38160" y="123444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F7F0F1"/>
          </a:solidFill>
          <a:ln/>
        </p:spPr>
      </p:sp>
      <p:sp>
        <p:nvSpPr>
          <p:cNvPr id="12" name="Text 10"/>
          <p:cNvSpPr/>
          <p:nvPr/>
        </p:nvSpPr>
        <p:spPr>
          <a:xfrm>
            <a:off x="8366760" y="14630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of Living Index 2024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366760" y="2286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— the adjustment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66760" y="2743200"/>
            <a:ext cx="3154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 countries (Numbeo, NY = 100)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Grain: one country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living, rent, purchasing power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the adjusted measure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source alone can answer the question — the value is in the integration.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profiling → explicit cleaning rules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is documented, motivated, and implemented in the ETL — no silent cleaning.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532120" cy="1298448"/>
          </a:xfrm>
          <a:prstGeom prst="roundRect">
            <a:avLst>
              <a:gd name="adj" fmla="val 5634"/>
            </a:avLst>
          </a:prstGeom>
          <a:solidFill>
            <a:srgbClr val="F7F0F1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901952"/>
            <a:ext cx="566928" cy="566928"/>
          </a:xfrm>
          <a:prstGeom prst="ellipse">
            <a:avLst/>
          </a:prstGeom>
          <a:solidFill>
            <a:srgbClr val="8C1D2F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44752" y="1664208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compensation only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respondents with ConvertedCompYearly — 23,435 of 65,437 (35.8%)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55080" y="1554480"/>
            <a:ext cx="5532120" cy="1298448"/>
          </a:xfrm>
          <a:prstGeom prst="roundRect">
            <a:avLst>
              <a:gd name="adj" fmla="val 5634"/>
            </a:avLst>
          </a:prstGeom>
          <a:solidFill>
            <a:srgbClr val="F7F0F1"/>
          </a:solidFill>
          <a:ln/>
        </p:spPr>
      </p:sp>
      <p:sp>
        <p:nvSpPr>
          <p:cNvPr id="9" name="Shape 7"/>
          <p:cNvSpPr/>
          <p:nvPr/>
        </p:nvSpPr>
        <p:spPr>
          <a:xfrm>
            <a:off x="6519672" y="1901952"/>
            <a:ext cx="566928" cy="566928"/>
          </a:xfrm>
          <a:prstGeom prst="ellipse">
            <a:avLst/>
          </a:prstGeom>
          <a:solidFill>
            <a:srgbClr val="8C1D2F"/>
          </a:solidFill>
          <a:ln/>
        </p:spPr>
      </p:sp>
      <p:sp>
        <p:nvSpPr>
          <p:cNvPr id="10" name="Text 8"/>
          <p:cNvSpPr/>
          <p:nvPr/>
        </p:nvSpPr>
        <p:spPr>
          <a:xfrm>
            <a:off x="6519672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251192" y="1664208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trimming, 1st–99th pct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pay from 1 $ to 16.2 M$ — keep 222 → 398,026 $ (22,909 facts)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035808"/>
            <a:ext cx="5532120" cy="1298448"/>
          </a:xfrm>
          <a:prstGeom prst="roundRect">
            <a:avLst>
              <a:gd name="adj" fmla="val 5634"/>
            </a:avLst>
          </a:prstGeom>
          <a:solidFill>
            <a:srgbClr val="F7F0F1"/>
          </a:solidFill>
          <a:ln/>
        </p:spPr>
      </p:sp>
      <p:sp>
        <p:nvSpPr>
          <p:cNvPr id="13" name="Shape 11"/>
          <p:cNvSpPr/>
          <p:nvPr/>
        </p:nvSpPr>
        <p:spPr>
          <a:xfrm>
            <a:off x="713232" y="3383280"/>
            <a:ext cx="566928" cy="566928"/>
          </a:xfrm>
          <a:prstGeom prst="ellipse">
            <a:avLst/>
          </a:prstGeom>
          <a:solidFill>
            <a:srgbClr val="8C1D2F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383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44752" y="314553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'Unknown' member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31.8% nulls — nulls become an explicit dimension member, no fact is lost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55080" y="3035808"/>
            <a:ext cx="5532120" cy="1298448"/>
          </a:xfrm>
          <a:prstGeom prst="roundRect">
            <a:avLst>
              <a:gd name="adj" fmla="val 5634"/>
            </a:avLst>
          </a:prstGeom>
          <a:solidFill>
            <a:srgbClr val="F7F0F1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9672" y="3383280"/>
            <a:ext cx="566928" cy="566928"/>
          </a:xfrm>
          <a:prstGeom prst="ellipse">
            <a:avLst/>
          </a:prstGeom>
          <a:solidFill>
            <a:srgbClr val="8C1D2F"/>
          </a:solidFill>
          <a:ln/>
        </p:spPr>
      </p:sp>
      <p:sp>
        <p:nvSpPr>
          <p:cNvPr id="18" name="Text 16"/>
          <p:cNvSpPr/>
          <p:nvPr/>
        </p:nvSpPr>
        <p:spPr>
          <a:xfrm>
            <a:off x="6519672" y="3383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251192" y="314553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threshold at query time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≥ 30 enforced in OLAP (HAVING), never in ETL — the DW keeps full grain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517136"/>
            <a:ext cx="5532120" cy="1298448"/>
          </a:xfrm>
          <a:prstGeom prst="roundRect">
            <a:avLst>
              <a:gd name="adj" fmla="val 5634"/>
            </a:avLst>
          </a:prstGeom>
          <a:solidFill>
            <a:srgbClr val="F7F0F1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4864608"/>
            <a:ext cx="566928" cy="566928"/>
          </a:xfrm>
          <a:prstGeom prst="ellipse">
            <a:avLst/>
          </a:prstGeom>
          <a:solidFill>
            <a:srgbClr val="8C1D2F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864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44752" y="462686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exclusions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'Nomadic' (not a country) and Kosovo (no ISO code) — 8 respondents total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355080" y="4517136"/>
            <a:ext cx="5532120" cy="1298448"/>
          </a:xfrm>
          <a:prstGeom prst="roundRect">
            <a:avLst>
              <a:gd name="adj" fmla="val 5634"/>
            </a:avLst>
          </a:prstGeom>
          <a:solidFill>
            <a:srgbClr val="F7F0F1"/>
          </a:solidFill>
          <a:ln/>
        </p:spPr>
      </p:sp>
      <p:sp>
        <p:nvSpPr>
          <p:cNvPr id="25" name="Shape 23"/>
          <p:cNvSpPr/>
          <p:nvPr/>
        </p:nvSpPr>
        <p:spPr>
          <a:xfrm>
            <a:off x="6519672" y="4864608"/>
            <a:ext cx="566928" cy="566928"/>
          </a:xfrm>
          <a:prstGeom prst="ellipse">
            <a:avLst/>
          </a:prstGeom>
          <a:solidFill>
            <a:srgbClr val="8C1D2F"/>
          </a:solidFill>
          <a:ln/>
        </p:spPr>
      </p:sp>
      <p:sp>
        <p:nvSpPr>
          <p:cNvPr id="26" name="Text 24"/>
          <p:cNvSpPr/>
          <p:nvPr/>
        </p:nvSpPr>
        <p:spPr>
          <a:xfrm>
            <a:off x="6519672" y="4864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251192" y="462686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validated and fixed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named 'South Korea' carried PRK (North Korea!) — renamed, joins on codes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central ETL challenge: country-name reconciliation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F7F0F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002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names — 21 variants mapped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('United States of America', 'Viet Nam'…)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F7F0F1"/>
          </a:solidFill>
          <a:ln/>
        </p:spPr>
      </p:sp>
      <p:sp>
        <p:nvSpPr>
          <p:cNvPr id="6" name="Text 4"/>
          <p:cNvSpPr/>
          <p:nvPr/>
        </p:nvSpPr>
        <p:spPr>
          <a:xfrm>
            <a:off x="8458200" y="16002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Living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names — 5 variants mapped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('Hong Kong (China)', 'South Korea'…)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474720" cy="1554480"/>
          </a:xfrm>
          <a:prstGeom prst="roundRect">
            <a:avLst>
              <a:gd name="adj" fmla="val 5882"/>
            </a:avLst>
          </a:prstGeom>
          <a:solidFill>
            <a:srgbClr val="8C1D2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1508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master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F0D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key: alpha-3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F0D9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joins happen on codes, never on names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950208" y="1965960"/>
            <a:ext cx="384048" cy="365760"/>
          </a:xfrm>
          <a:prstGeom prst="rightArrow">
            <a:avLst/>
          </a:prstGeom>
          <a:solidFill>
            <a:srgbClr val="2F3C7E"/>
          </a:solidFill>
          <a:ln/>
        </p:spPr>
      </p:sp>
      <p:sp>
        <p:nvSpPr>
          <p:cNvPr id="10" name="Shape 8"/>
          <p:cNvSpPr/>
          <p:nvPr/>
        </p:nvSpPr>
        <p:spPr>
          <a:xfrm>
            <a:off x="7827264" y="1965960"/>
            <a:ext cx="384048" cy="365760"/>
          </a:xfrm>
          <a:prstGeom prst="leftArrow">
            <a:avLst/>
          </a:prstGeom>
          <a:solidFill>
            <a:srgbClr val="2F3C7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 / 185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063240" y="347472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names matching the cost-of-living source without cleaning — the miss list included the heaviest countries (USA: 4,677 respondents, UK: 1,391)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432511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063240" y="4370832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after reconciliation: all 69 relevant countries matched, verified end-to-end (every mapping target checked, applied result re-checked)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5221224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KOR ≠ PRK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063240" y="5266944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master itself had a bug: a row named 'South Korea' carrying North Korea's code — names fail silently in both directions, codes don't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Conceptual design — the Dimensional Fact Model</a:t>
            </a:r>
            <a:endParaRPr lang="en-US" sz="3000" dirty="0"/>
          </a:p>
        </p:txBody>
      </p:sp>
      <p:pic>
        <p:nvPicPr>
          <p:cNvPr id="3" name="Image 0" descr="/sessions/gifted-beautiful-cerf/mnt/outputs/df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7635240" cy="5577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75320" y="1371600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survey response — the finest available; aggregating is always possible, disaggregating never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275320" y="2670048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(MEDIAN)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comp_usd and derived comp_adjusted = comp_usd / (COL/100). Non-additive: never SUM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75320" y="3968496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Hierarchies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→ sub-region → region: each arc a verified many-to-one functional dependency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75320" y="5266944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arc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are many-to-many (5.3 per respondent) → bridge table, double-counting declared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Logical design — star schema on PostgreSQL</a:t>
            </a:r>
            <a:endParaRPr lang="en-US" sz="3000" dirty="0"/>
          </a:p>
        </p:txBody>
      </p:sp>
      <p:pic>
        <p:nvPicPr>
          <p:cNvPr id="3" name="Image 0" descr="/sessions/gifted-beautiful-cerf/mnt/outputs/s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7635240" cy="5623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75320" y="1371600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Star, not snowflake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hierarchies denormalized in the dimension tables: redundancy is harmless in a read-only, ETL-loaded DW — and queries need fewer joins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275320" y="2670048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keys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keys generated in ETL; natural keys (alpha-3) kept as attributes. Source-independent joins, uniform 'Unknown' member (key 0)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75320" y="3968496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table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121,055 rows realize the many-to-many with languages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75320" y="5266944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1D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Degenerate dimension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response_id kept in the fact table for lineage back to the source CSV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ETL — a single idempotent Python 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8C1D2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087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kagglehub download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sources, cached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172968" y="1965960"/>
            <a:ext cx="365760" cy="411480"/>
          </a:xfrm>
          <a:prstGeom prst="rightArrow">
            <a:avLst/>
          </a:prstGeom>
          <a:solidFill>
            <a:srgbClr val="6A6A6A"/>
          </a:solidFill>
          <a:ln/>
        </p:spPr>
      </p:sp>
      <p:sp>
        <p:nvSpPr>
          <p:cNvPr id="6" name="Shape 4"/>
          <p:cNvSpPr/>
          <p:nvPr/>
        </p:nvSpPr>
        <p:spPr>
          <a:xfrm>
            <a:off x="3547872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8C1D2F"/>
          </a:solidFill>
          <a:ln/>
        </p:spPr>
      </p:sp>
      <p:sp>
        <p:nvSpPr>
          <p:cNvPr id="7" name="Text 5"/>
          <p:cNvSpPr/>
          <p:nvPr/>
        </p:nvSpPr>
        <p:spPr>
          <a:xfrm>
            <a:off x="3730752" y="15087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R1–R6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mappings · banding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measure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965960"/>
            <a:ext cx="365760" cy="411480"/>
          </a:xfrm>
          <a:prstGeom prst="rightArrow">
            <a:avLst/>
          </a:prstGeom>
          <a:solidFill>
            <a:srgbClr val="6A6A6A"/>
          </a:solidFill>
          <a:ln/>
        </p:spPr>
      </p:sp>
      <p:sp>
        <p:nvSpPr>
          <p:cNvPr id="9" name="Shape 7"/>
          <p:cNvSpPr/>
          <p:nvPr/>
        </p:nvSpPr>
        <p:spPr>
          <a:xfrm>
            <a:off x="6547104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8C1D2F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087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→ facts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bridge (FK order)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171432" y="1965960"/>
            <a:ext cx="365760" cy="411480"/>
          </a:xfrm>
          <a:prstGeom prst="rightArrow">
            <a:avLst/>
          </a:prstGeom>
          <a:solidFill>
            <a:srgbClr val="6A6A6A"/>
          </a:solidFill>
          <a:ln/>
        </p:spPr>
      </p:sp>
      <p:sp>
        <p:nvSpPr>
          <p:cNvPr id="12" name="Shape 10"/>
          <p:cNvSpPr/>
          <p:nvPr/>
        </p:nvSpPr>
        <p:spPr>
          <a:xfrm>
            <a:off x="9546336" y="13716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2F3C7E"/>
          </a:solidFill>
          <a:ln/>
        </p:spPr>
      </p:sp>
      <p:sp>
        <p:nvSpPr>
          <p:cNvPr id="13" name="Text 11"/>
          <p:cNvSpPr/>
          <p:nvPr/>
        </p:nvSpPr>
        <p:spPr>
          <a:xfrm>
            <a:off x="9729216" y="15087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CHECK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counts · NULL audit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EBD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smoke-test query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by design — </a:t>
            </a:r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rebuilds the schema from scratch (DROP SCHEMA … CASCADE) — re-running N times yields the same warehouse. No manual updates, ever: the DW is non-volatile.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389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order = referential integrity — </a:t>
            </a:r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first, then facts, then the bridge: every foreign key must point to an existing surrogate key. FKs are declared and enforced — ETL violations are impossible by construction.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transformation is traceable — </a:t>
            </a:r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code block cites the documented rule it implements (R1–R6, D1–D3, L1–L6). 22,909 facts loaded; 140 facts keep comp_adjusted NULL (countries without a cost index) — kept, not deleted.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answer: where salaries buy the most</a:t>
            </a:r>
            <a:endParaRPr lang="en-US" sz="3000" dirty="0"/>
          </a:p>
        </p:txBody>
      </p:sp>
      <p:pic>
        <p:nvPicPr>
          <p:cNvPr id="3" name="Image 0" descr="/sessions/gifted-beautiful-cerf/mnt/progetto data/3_presentazione_e_demo/charts/1_top15_purchasing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321731" cy="5394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0" y="14630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199k$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8229600" y="25146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adjusted median — first even in real terms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0" y="3291840"/>
            <a:ext cx="3429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top, the ranking reshuffles completely: Georgia 3rd, Poland 6th — ahead of Canada and the UK.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Median, not mean: measures are non-additive and the distribution is right-skewed.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always displayed (threshold n ≥ 30, rule R4).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hidden winners</a:t>
            </a:r>
            <a:endParaRPr lang="en-US" sz="3000" dirty="0"/>
          </a:p>
        </p:txBody>
      </p:sp>
      <p:pic>
        <p:nvPicPr>
          <p:cNvPr id="3" name="Image 0" descr="/sessions/gifted-beautiful-cerf/mnt/progetto data/3_presentazione_e_demo/charts/2_rank_ga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589520" cy="491086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0" y="14630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+26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8229600" y="25146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gained by Georgia (nominal → real rank)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0" y="3291840"/>
            <a:ext cx="3429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China, Argentina and Ukraine climb 25 positions each — Ukraine with a rock-solid n = 1,410.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phenomenon is invisible in raw data: mid salaries + low cost of living beat high salaries + high costs.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functions (RANK) over the same warehouse — no reload needed.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Roll-up, stress-tested: does the geography really flip?</a:t>
            </a:r>
            <a:endParaRPr lang="en-US" sz="3000" dirty="0"/>
          </a:p>
        </p:txBody>
      </p:sp>
      <p:pic>
        <p:nvPicPr>
          <p:cNvPr id="3" name="Image 0" descr="/sessions/gifted-beautiful-cerf/mnt/progetto data/3_presentazione_e_demo/charts/3_bias_corr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321731" cy="5394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0" y="14630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&lt; W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8229600" y="25146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"E &gt; W" as the first pass (pooled) suggested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0" y="3291840"/>
            <a:ext cx="3429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ROLLUP on the pooled fact rows said Eastern Europe overtakes the West: 113.7 k$ vs 107.8 k$ — but pooling implicitly weights each country by its Stack Overflow respondent count, not by anything real.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Re-computing with one median per country, then a median of those medians (Q9): Eastern Europe drops to 102.7 k$; Western Europe barely moves (107.8 k$, scarto ~ 0 — its 6 countries have comparable samples, so pooling doesn't distort it there).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direction at world level: pooled median 120.7 k$ falls to 102.2 k$ equally weighted. Both queries stay in the workload, documented — they answer different questions, and only one supports the headline we almost wrote.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 pays — with very different slopes</a:t>
            </a:r>
            <a:endParaRPr lang="en-US" sz="3000" dirty="0"/>
          </a:p>
        </p:txBody>
      </p:sp>
      <p:pic>
        <p:nvPicPr>
          <p:cNvPr id="3" name="Image 0" descr="/sessions/gifted-beautiful-cerf/mnt/progetto data/3_presentazione_e_demo/charts/4_experience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589520" cy="44644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0" y="14630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9×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8229600" y="25146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→ expert multiplier in Africa (18k → 163k)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0" y="3291840"/>
            <a:ext cx="3429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seniority gradient exists everywhere, but emerging markets reward experience far more: Asia ~5.5×, Americas ~2.2×.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medians in Asia (170.8k) and Africa (163.2k) approach the Americas.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on two dimensions: experience band × region.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remote-work multiplier</a:t>
            </a:r>
            <a:endParaRPr lang="en-US" sz="3000" dirty="0"/>
          </a:p>
        </p:txBody>
      </p:sp>
      <p:pic>
        <p:nvPicPr>
          <p:cNvPr id="3" name="Image 0" descr="/sessions/gifted-beautiful-cerf/mnt/progetto data/3_presentazione_e_demo/charts/5_remote_prem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589520" cy="4638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0" y="14630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+134%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8229600" y="25146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premium on real purchasing power in Africa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0" y="3291840"/>
            <a:ext cx="3429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work decouples the salary from the local market — but not from the local cost of living.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grows where costs are lowest: +57% Americas, +95% Asia, +134% Africa.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aggregates side by side (FILTER clause).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 the bridge: language premiums</a:t>
            </a:r>
            <a:endParaRPr lang="en-US" sz="3000" dirty="0"/>
          </a:p>
        </p:txBody>
      </p:sp>
      <p:pic>
        <p:nvPicPr>
          <p:cNvPr id="3" name="Image 0" descr="/sessions/gifted-beautiful-cerf/mnt/progetto data/3_presentazione_e_demo/charts/6_language_prem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589520" cy="491086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0" y="14630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1D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5.28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8229600" y="25146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per respondent — the many-to-many the bridge resolves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0" y="3291840"/>
            <a:ext cx="3429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and functional languages top the ranking (Erlang, Elixir, Clojure): a rarity/seniority premium, not causation.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Double-counting guard: each respondent contributes to every language they use — medians per group are legitimate, sums across groups are not.</a:t>
            </a:r>
            <a:endParaRPr lang="en-US" sz="12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121,055 bridge rows queried through two joins.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not claim — declared limitations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14500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145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17320" y="14630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data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salaries are respondent-declared; mitigated by percentile trimming (R2), not eliminated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948940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9489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69748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samples at the top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Georgia n=46, Uruguay n=37: above threshold, still fragile — the pattern is confirmed by large samples (Poland 581, Ukraine 1,410)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4183380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41833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93192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Country-grain indices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living is national: Tbilisi ≠ the Georgian average, San Francisco ≠ the US average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5417820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54178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516636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2024 snapshot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sources are single-year: cross-country comparison, deliberately no time dimension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Purchasing Power of the Tech Worker  · 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5C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3E2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living redraws the geography of tech work — but headline regional claims can be artifacts of how you aggregate; remote work is the one multiplier that holds up under every weighting we tried.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3E2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sources that never met became one consistent star schema — reconciled on ISO codes, cleaned by six documented rules, loaded by one idempotent pipeline.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2960" y="402336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3E2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in this deck is one SQL query away — as the live demo is about to show.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5349240"/>
            <a:ext cx="10424160" cy="914400"/>
          </a:xfrm>
          <a:prstGeom prst="roundRect">
            <a:avLst>
              <a:gd name="adj" fmla="val 10000"/>
            </a:avLst>
          </a:prstGeom>
          <a:solidFill>
            <a:srgbClr val="8C1D2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53492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— the warehouse answering in real time  (5 minutes)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2026-09-08T14:36:58Z</dcterms:created>
  <dcterms:modified xsi:type="dcterms:W3CDTF">2026-09-08T14:36:58Z</dcterms:modified>
</cp:coreProperties>
</file>